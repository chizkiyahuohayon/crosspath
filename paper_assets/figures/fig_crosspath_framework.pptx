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309360" cy="2517140"/>
  <p:notesSz cx="2517140" cy="630936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2"/>
          <p:cNvSpPr/>
          <p:nvPr/>
        </p:nvSpPr>
        <p:spPr>
          <a:xfrm>
            <a:off x="38100" y="213360"/>
            <a:ext cx="1597622" cy="1711960"/>
          </a:xfrm>
          <a:prstGeom prst="roundRect">
            <a:avLst>
              <a:gd name="adj" fmla="val 2066"/>
            </a:avLst>
          </a:prstGeom>
          <a:noFill/>
          <a:ln w="6985" cap="flat">
            <a:solidFill>
              <a:srgbClr val="A5A5A5"/>
            </a:solidFill>
            <a:prstDash val="dash"/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" name="StageTitle 3"/>
          <p:cNvSpPr txBox="1"/>
          <p:nvPr/>
        </p:nvSpPr>
        <p:spPr>
          <a:xfrm>
            <a:off x="38100" y="63500"/>
            <a:ext cx="1597622" cy="1244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/>
                <a:cs typeface="Times New Roman"/>
              </a:rPr>
              <a:t>Composed Retrieval Input</a:t>
            </a:r>
          </a:p>
        </p:txBody>
      </p:sp>
      <p:pic>
        <p:nvPicPr>
          <p:cNvPr id="4" name="Panel 4"/>
          <p:cNvPicPr>
            <a:picLocks noChangeAsp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289560"/>
            <a:ext cx="584200" cy="584200"/>
          </a:xfrm>
          <a:prstGeom prst="rect">
            <a:avLst/>
          </a:prstGeom>
          <a:ln w="3810">
            <a:solidFill>
              <a:srgbClr val="000000"/>
            </a:solidFill>
          </a:ln>
        </p:spPr>
      </p:pic>
      <p:sp>
        <p:nvSpPr>
          <p:cNvPr id="5" name="Caption 5"/>
          <p:cNvSpPr txBox="1"/>
          <p:nvPr/>
        </p:nvSpPr>
        <p:spPr>
          <a:xfrm>
            <a:off x="114300" y="911860"/>
            <a:ext cx="584200" cy="965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60" dirty="0">
                <a:solidFill>
                  <a:srgbClr val="000000"/>
                </a:solidFill>
                <a:latin typeface="Times New Roman"/>
                <a:cs typeface="Times New Roman"/>
              </a:rPr>
              <a:t>Reference image</a:t>
            </a:r>
          </a:p>
        </p:txBody>
      </p:sp>
      <p:sp>
        <p:nvSpPr>
          <p:cNvPr id="6" name="Module 6"/>
          <p:cNvSpPr/>
          <p:nvPr/>
        </p:nvSpPr>
        <p:spPr>
          <a:xfrm>
            <a:off x="762000" y="484378"/>
            <a:ext cx="797522" cy="316484"/>
          </a:xfrm>
          <a:prstGeom prst="roundRect">
            <a:avLst>
              <a:gd name="adj" fmla="val 10433"/>
            </a:avLst>
          </a:prstGeom>
          <a:solidFill>
            <a:srgbClr val="F7F7F7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Remove graphics</a:t>
            </a:r>
          </a:p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Hidden placket</a:t>
            </a:r>
          </a:p>
        </p:txBody>
      </p:sp>
      <p:sp>
        <p:nvSpPr>
          <p:cNvPr id="7" name="SlabTop 7"/>
          <p:cNvSpPr/>
          <p:nvPr/>
        </p:nvSpPr>
        <p:spPr>
          <a:xfrm>
            <a:off x="515607" y="1325880"/>
            <a:ext cx="134620" cy="45720"/>
          </a:xfrm>
          <a:custGeom>
            <a:avLst/>
            <a:gdLst/>
            <a:ahLst/>
            <a:cxnLst/>
            <a:rect l="0" t="0" r="r" b="b"/>
            <a:pathLst>
              <a:path w="134620" h="45720">
                <a:moveTo>
                  <a:pt x="0" y="45720"/>
                </a:moveTo>
                <a:lnTo>
                  <a:pt x="45720" y="0"/>
                </a:lnTo>
                <a:lnTo>
                  <a:pt x="134620" y="0"/>
                </a:lnTo>
                <a:lnTo>
                  <a:pt x="88900" y="45720"/>
                </a:lnTo>
                <a:close/>
              </a:path>
            </a:pathLst>
          </a:custGeom>
          <a:solidFill>
            <a:srgbClr val="F8F8F8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8" name="SlabSide 8"/>
          <p:cNvSpPr/>
          <p:nvPr/>
        </p:nvSpPr>
        <p:spPr>
          <a:xfrm>
            <a:off x="604507" y="1325880"/>
            <a:ext cx="45720" cy="401320"/>
          </a:xfrm>
          <a:custGeom>
            <a:avLst/>
            <a:gdLst/>
            <a:ahLst/>
            <a:cxnLst/>
            <a:rect l="0" t="0" r="r" b="b"/>
            <a:pathLst>
              <a:path w="45720" h="401320">
                <a:moveTo>
                  <a:pt x="0" y="45720"/>
                </a:moveTo>
                <a:lnTo>
                  <a:pt x="45720" y="0"/>
                </a:lnTo>
                <a:lnTo>
                  <a:pt x="45720" y="355600"/>
                </a:lnTo>
                <a:lnTo>
                  <a:pt x="0" y="401320"/>
                </a:lnTo>
                <a:close/>
              </a:path>
            </a:pathLst>
          </a:custGeom>
          <a:solidFill>
            <a:srgbClr val="DEDEDE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" name="SlabFace 9"/>
          <p:cNvSpPr/>
          <p:nvPr/>
        </p:nvSpPr>
        <p:spPr>
          <a:xfrm>
            <a:off x="515607" y="1371600"/>
            <a:ext cx="88900" cy="355600"/>
          </a:xfrm>
          <a:prstGeom prst="rect">
            <a:avLst/>
          </a:prstGeom>
          <a:solidFill>
            <a:srgbClr val="F7F7F7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0" name="SlabTop 10"/>
          <p:cNvSpPr/>
          <p:nvPr/>
        </p:nvSpPr>
        <p:spPr>
          <a:xfrm>
            <a:off x="642607" y="1325880"/>
            <a:ext cx="134620" cy="45720"/>
          </a:xfrm>
          <a:custGeom>
            <a:avLst/>
            <a:gdLst/>
            <a:ahLst/>
            <a:cxnLst/>
            <a:rect l="0" t="0" r="r" b="b"/>
            <a:pathLst>
              <a:path w="134620" h="45720">
                <a:moveTo>
                  <a:pt x="0" y="45720"/>
                </a:moveTo>
                <a:lnTo>
                  <a:pt x="45720" y="0"/>
                </a:lnTo>
                <a:lnTo>
                  <a:pt x="134620" y="0"/>
                </a:lnTo>
                <a:lnTo>
                  <a:pt x="88900" y="45720"/>
                </a:lnTo>
                <a:close/>
              </a:path>
            </a:pathLst>
          </a:custGeom>
          <a:solidFill>
            <a:srgbClr val="F8F8F8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1" name="SlabSide 11"/>
          <p:cNvSpPr/>
          <p:nvPr/>
        </p:nvSpPr>
        <p:spPr>
          <a:xfrm>
            <a:off x="731507" y="1325880"/>
            <a:ext cx="45720" cy="401320"/>
          </a:xfrm>
          <a:custGeom>
            <a:avLst/>
            <a:gdLst/>
            <a:ahLst/>
            <a:cxnLst/>
            <a:rect l="0" t="0" r="r" b="b"/>
            <a:pathLst>
              <a:path w="45720" h="401320">
                <a:moveTo>
                  <a:pt x="0" y="45720"/>
                </a:moveTo>
                <a:lnTo>
                  <a:pt x="45720" y="0"/>
                </a:lnTo>
                <a:lnTo>
                  <a:pt x="45720" y="355600"/>
                </a:lnTo>
                <a:lnTo>
                  <a:pt x="0" y="401320"/>
                </a:lnTo>
                <a:close/>
              </a:path>
            </a:pathLst>
          </a:custGeom>
          <a:solidFill>
            <a:srgbClr val="DEDEDE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2" name="SlabFace 12"/>
          <p:cNvSpPr/>
          <p:nvPr/>
        </p:nvSpPr>
        <p:spPr>
          <a:xfrm>
            <a:off x="642607" y="1371600"/>
            <a:ext cx="88900" cy="355600"/>
          </a:xfrm>
          <a:prstGeom prst="rect">
            <a:avLst/>
          </a:prstGeom>
          <a:solidFill>
            <a:srgbClr val="F7F7F7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3" name="SlabTop 13"/>
          <p:cNvSpPr/>
          <p:nvPr/>
        </p:nvSpPr>
        <p:spPr>
          <a:xfrm>
            <a:off x="769607" y="1325880"/>
            <a:ext cx="134620" cy="45720"/>
          </a:xfrm>
          <a:custGeom>
            <a:avLst/>
            <a:gdLst/>
            <a:ahLst/>
            <a:cxnLst/>
            <a:rect l="0" t="0" r="r" b="b"/>
            <a:pathLst>
              <a:path w="134620" h="45720">
                <a:moveTo>
                  <a:pt x="0" y="45720"/>
                </a:moveTo>
                <a:lnTo>
                  <a:pt x="45720" y="0"/>
                </a:lnTo>
                <a:lnTo>
                  <a:pt x="134620" y="0"/>
                </a:lnTo>
                <a:lnTo>
                  <a:pt x="88900" y="45720"/>
                </a:lnTo>
                <a:close/>
              </a:path>
            </a:pathLst>
          </a:custGeom>
          <a:solidFill>
            <a:srgbClr val="F8F8F8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4" name="SlabSide 14"/>
          <p:cNvSpPr/>
          <p:nvPr/>
        </p:nvSpPr>
        <p:spPr>
          <a:xfrm>
            <a:off x="858507" y="1325880"/>
            <a:ext cx="45720" cy="401320"/>
          </a:xfrm>
          <a:custGeom>
            <a:avLst/>
            <a:gdLst/>
            <a:ahLst/>
            <a:cxnLst/>
            <a:rect l="0" t="0" r="r" b="b"/>
            <a:pathLst>
              <a:path w="45720" h="401320">
                <a:moveTo>
                  <a:pt x="0" y="45720"/>
                </a:moveTo>
                <a:lnTo>
                  <a:pt x="45720" y="0"/>
                </a:lnTo>
                <a:lnTo>
                  <a:pt x="45720" y="355600"/>
                </a:lnTo>
                <a:lnTo>
                  <a:pt x="0" y="401320"/>
                </a:lnTo>
                <a:close/>
              </a:path>
            </a:pathLst>
          </a:custGeom>
          <a:solidFill>
            <a:srgbClr val="DEDEDE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5" name="SlabFace 15"/>
          <p:cNvSpPr/>
          <p:nvPr/>
        </p:nvSpPr>
        <p:spPr>
          <a:xfrm>
            <a:off x="769607" y="1371600"/>
            <a:ext cx="88900" cy="355600"/>
          </a:xfrm>
          <a:prstGeom prst="rect">
            <a:avLst/>
          </a:prstGeom>
          <a:solidFill>
            <a:srgbClr val="F7F7F7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6" name="SlabTop 16"/>
          <p:cNvSpPr/>
          <p:nvPr/>
        </p:nvSpPr>
        <p:spPr>
          <a:xfrm>
            <a:off x="896607" y="1325880"/>
            <a:ext cx="134620" cy="45720"/>
          </a:xfrm>
          <a:custGeom>
            <a:avLst/>
            <a:gdLst/>
            <a:ahLst/>
            <a:cxnLst/>
            <a:rect l="0" t="0" r="r" b="b"/>
            <a:pathLst>
              <a:path w="134620" h="45720">
                <a:moveTo>
                  <a:pt x="0" y="45720"/>
                </a:moveTo>
                <a:lnTo>
                  <a:pt x="45720" y="0"/>
                </a:lnTo>
                <a:lnTo>
                  <a:pt x="134620" y="0"/>
                </a:lnTo>
                <a:lnTo>
                  <a:pt x="88900" y="45720"/>
                </a:lnTo>
                <a:close/>
              </a:path>
            </a:pathLst>
          </a:custGeom>
          <a:solidFill>
            <a:srgbClr val="F8F8F8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7" name="SlabSide 17"/>
          <p:cNvSpPr/>
          <p:nvPr/>
        </p:nvSpPr>
        <p:spPr>
          <a:xfrm>
            <a:off x="985507" y="1325880"/>
            <a:ext cx="45720" cy="401320"/>
          </a:xfrm>
          <a:custGeom>
            <a:avLst/>
            <a:gdLst/>
            <a:ahLst/>
            <a:cxnLst/>
            <a:rect l="0" t="0" r="r" b="b"/>
            <a:pathLst>
              <a:path w="45720" h="401320">
                <a:moveTo>
                  <a:pt x="0" y="45720"/>
                </a:moveTo>
                <a:lnTo>
                  <a:pt x="45720" y="0"/>
                </a:lnTo>
                <a:lnTo>
                  <a:pt x="45720" y="355600"/>
                </a:lnTo>
                <a:lnTo>
                  <a:pt x="0" y="401320"/>
                </a:lnTo>
                <a:close/>
              </a:path>
            </a:pathLst>
          </a:custGeom>
          <a:solidFill>
            <a:srgbClr val="DEDEDE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8" name="SlabFace 18"/>
          <p:cNvSpPr/>
          <p:nvPr/>
        </p:nvSpPr>
        <p:spPr>
          <a:xfrm>
            <a:off x="896607" y="1371600"/>
            <a:ext cx="88900" cy="355600"/>
          </a:xfrm>
          <a:prstGeom prst="rect">
            <a:avLst/>
          </a:prstGeom>
          <a:solidFill>
            <a:srgbClr val="F7F7F7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9" name="SlabTop 19"/>
          <p:cNvSpPr/>
          <p:nvPr/>
        </p:nvSpPr>
        <p:spPr>
          <a:xfrm>
            <a:off x="1023607" y="1325880"/>
            <a:ext cx="134620" cy="45720"/>
          </a:xfrm>
          <a:custGeom>
            <a:avLst/>
            <a:gdLst/>
            <a:ahLst/>
            <a:cxnLst/>
            <a:rect l="0" t="0" r="r" b="b"/>
            <a:pathLst>
              <a:path w="134620" h="45720">
                <a:moveTo>
                  <a:pt x="0" y="45720"/>
                </a:moveTo>
                <a:lnTo>
                  <a:pt x="45720" y="0"/>
                </a:lnTo>
                <a:lnTo>
                  <a:pt x="134620" y="0"/>
                </a:lnTo>
                <a:lnTo>
                  <a:pt x="88900" y="45720"/>
                </a:lnTo>
                <a:close/>
              </a:path>
            </a:pathLst>
          </a:custGeom>
          <a:solidFill>
            <a:srgbClr val="F8F8F8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0" name="SlabSide 20"/>
          <p:cNvSpPr/>
          <p:nvPr/>
        </p:nvSpPr>
        <p:spPr>
          <a:xfrm>
            <a:off x="1112507" y="1325880"/>
            <a:ext cx="45720" cy="401320"/>
          </a:xfrm>
          <a:custGeom>
            <a:avLst/>
            <a:gdLst/>
            <a:ahLst/>
            <a:cxnLst/>
            <a:rect l="0" t="0" r="r" b="b"/>
            <a:pathLst>
              <a:path w="45720" h="401320">
                <a:moveTo>
                  <a:pt x="0" y="45720"/>
                </a:moveTo>
                <a:lnTo>
                  <a:pt x="45720" y="0"/>
                </a:lnTo>
                <a:lnTo>
                  <a:pt x="45720" y="355600"/>
                </a:lnTo>
                <a:lnTo>
                  <a:pt x="0" y="401320"/>
                </a:lnTo>
                <a:close/>
              </a:path>
            </a:pathLst>
          </a:custGeom>
          <a:solidFill>
            <a:srgbClr val="DEDEDE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1" name="SlabFace 21"/>
          <p:cNvSpPr/>
          <p:nvPr/>
        </p:nvSpPr>
        <p:spPr>
          <a:xfrm>
            <a:off x="1023607" y="1371600"/>
            <a:ext cx="88900" cy="355600"/>
          </a:xfrm>
          <a:prstGeom prst="rect">
            <a:avLst/>
          </a:prstGeom>
          <a:solidFill>
            <a:srgbClr val="F7F7F7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2" name="Caption 22"/>
          <p:cNvSpPr txBox="1"/>
          <p:nvPr/>
        </p:nvSpPr>
        <p:spPr>
          <a:xfrm>
            <a:off x="515607" y="1765300"/>
            <a:ext cx="642620" cy="965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60" dirty="0">
                <a:solidFill>
                  <a:srgbClr val="000000"/>
                </a:solidFill>
                <a:latin typeface="Times New Roman"/>
                <a:cs typeface="Times New Roman"/>
              </a:rPr>
              <a:t>Gallery images</a:t>
            </a:r>
          </a:p>
        </p:txBody>
      </p:sp>
      <p:sp>
        <p:nvSpPr>
          <p:cNvPr id="23" name="Stage 23"/>
          <p:cNvSpPr/>
          <p:nvPr/>
        </p:nvSpPr>
        <p:spPr>
          <a:xfrm>
            <a:off x="1918526" y="213360"/>
            <a:ext cx="1094740" cy="2265680"/>
          </a:xfrm>
          <a:prstGeom prst="roundRect">
            <a:avLst>
              <a:gd name="adj" fmla="val 3016"/>
            </a:avLst>
          </a:prstGeom>
          <a:noFill/>
          <a:ln w="6985" cap="flat">
            <a:solidFill>
              <a:srgbClr val="A5A5A5"/>
            </a:solidFill>
            <a:prstDash val="dash"/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4" name="StageTitle 24"/>
          <p:cNvSpPr txBox="1"/>
          <p:nvPr/>
        </p:nvSpPr>
        <p:spPr>
          <a:xfrm>
            <a:off x="1918526" y="63500"/>
            <a:ext cx="1094740" cy="1244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/>
                <a:cs typeface="Times New Roman"/>
              </a:rPr>
              <a:t>Frozen CIR Endpoints</a:t>
            </a:r>
          </a:p>
        </p:txBody>
      </p:sp>
      <p:sp>
        <p:nvSpPr>
          <p:cNvPr id="25" name="Stage 25"/>
          <p:cNvSpPr/>
          <p:nvPr/>
        </p:nvSpPr>
        <p:spPr>
          <a:xfrm>
            <a:off x="1994726" y="289560"/>
            <a:ext cx="942340" cy="891540"/>
          </a:xfrm>
          <a:prstGeom prst="roundRect">
            <a:avLst>
              <a:gd name="adj" fmla="val 3703"/>
            </a:avLst>
          </a:prstGeom>
          <a:solidFill>
            <a:srgbClr val="EBF5F8"/>
          </a:solidFill>
          <a:ln w="6985" cap="flat">
            <a:solidFill>
              <a:srgbClr val="31859B"/>
            </a:solidFill>
            <a:prstDash val="dash"/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6" name="Shape 26"/>
          <p:cNvSpPr/>
          <p:nvPr/>
        </p:nvSpPr>
        <p:spPr>
          <a:xfrm>
            <a:off x="2110296" y="365760"/>
            <a:ext cx="711200" cy="228600"/>
          </a:xfrm>
          <a:custGeom>
            <a:avLst/>
            <a:gdLst/>
            <a:ahLst/>
            <a:cxnLst/>
            <a:rect l="0" t="0" r="r" b="b"/>
            <a:pathLst>
              <a:path w="711200" h="228600">
                <a:moveTo>
                  <a:pt x="0" y="0"/>
                </a:moveTo>
                <a:lnTo>
                  <a:pt x="711200" y="50292"/>
                </a:lnTo>
                <a:lnTo>
                  <a:pt x="711200" y="178308"/>
                </a:lnTo>
                <a:lnTo>
                  <a:pt x="0" y="228600"/>
                </a:lnTo>
                <a:close/>
              </a:path>
            </a:pathLst>
          </a:custGeom>
          <a:solidFill>
            <a:srgbClr val="EBF5F8"/>
          </a:solidFill>
          <a:ln w="8255" cap="flat">
            <a:solidFill>
              <a:srgbClr val="A5A5A5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Endpoint 0</a:t>
            </a:r>
          </a:p>
        </p:txBody>
      </p:sp>
      <p:sp>
        <p:nvSpPr>
          <p:cNvPr id="27" name="SlabTop 27"/>
          <p:cNvSpPr/>
          <p:nvPr/>
        </p:nvSpPr>
        <p:spPr>
          <a:xfrm>
            <a:off x="2070926" y="6578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EF6F9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8" name="SlabSide 28"/>
          <p:cNvSpPr/>
          <p:nvPr/>
        </p:nvSpPr>
        <p:spPr>
          <a:xfrm>
            <a:off x="2147126" y="657860"/>
            <a:ext cx="45720" cy="325120"/>
          </a:xfrm>
          <a:custGeom>
            <a:avLst/>
            <a:gdLst/>
            <a:ahLst/>
            <a:cxnLst/>
            <a:rect l="0" t="0" r="r" b="b"/>
            <a:pathLst>
              <a:path w="45720" h="325120">
                <a:moveTo>
                  <a:pt x="0" y="45720"/>
                </a:moveTo>
                <a:lnTo>
                  <a:pt x="45720" y="0"/>
                </a:lnTo>
                <a:lnTo>
                  <a:pt x="45720" y="279400"/>
                </a:lnTo>
                <a:lnTo>
                  <a:pt x="0" y="325120"/>
                </a:lnTo>
                <a:close/>
              </a:path>
            </a:pathLst>
          </a:custGeom>
          <a:solidFill>
            <a:srgbClr val="D3DCDF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9" name="SlabFace 29"/>
          <p:cNvSpPr/>
          <p:nvPr/>
        </p:nvSpPr>
        <p:spPr>
          <a:xfrm>
            <a:off x="2070926" y="703580"/>
            <a:ext cx="76200" cy="279400"/>
          </a:xfrm>
          <a:prstGeom prst="rect">
            <a:avLst/>
          </a:prstGeom>
          <a:solidFill>
            <a:srgbClr val="EBF5F8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0" name="SlabTop 30"/>
          <p:cNvSpPr/>
          <p:nvPr/>
        </p:nvSpPr>
        <p:spPr>
          <a:xfrm>
            <a:off x="2185226" y="6578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EF6F9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1" name="SlabSide 31"/>
          <p:cNvSpPr/>
          <p:nvPr/>
        </p:nvSpPr>
        <p:spPr>
          <a:xfrm>
            <a:off x="2261426" y="657860"/>
            <a:ext cx="45720" cy="325120"/>
          </a:xfrm>
          <a:custGeom>
            <a:avLst/>
            <a:gdLst/>
            <a:ahLst/>
            <a:cxnLst/>
            <a:rect l="0" t="0" r="r" b="b"/>
            <a:pathLst>
              <a:path w="45720" h="325120">
                <a:moveTo>
                  <a:pt x="0" y="45720"/>
                </a:moveTo>
                <a:lnTo>
                  <a:pt x="45720" y="0"/>
                </a:lnTo>
                <a:lnTo>
                  <a:pt x="45720" y="279400"/>
                </a:lnTo>
                <a:lnTo>
                  <a:pt x="0" y="325120"/>
                </a:lnTo>
                <a:close/>
              </a:path>
            </a:pathLst>
          </a:custGeom>
          <a:solidFill>
            <a:srgbClr val="D3DCDF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2" name="SlabFace 32"/>
          <p:cNvSpPr/>
          <p:nvPr/>
        </p:nvSpPr>
        <p:spPr>
          <a:xfrm>
            <a:off x="2185226" y="703580"/>
            <a:ext cx="76200" cy="279400"/>
          </a:xfrm>
          <a:prstGeom prst="rect">
            <a:avLst/>
          </a:prstGeom>
          <a:solidFill>
            <a:srgbClr val="EBF5F8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3" name="SlabTop 33"/>
          <p:cNvSpPr/>
          <p:nvPr/>
        </p:nvSpPr>
        <p:spPr>
          <a:xfrm>
            <a:off x="2299526" y="6578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EF6F9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4" name="SlabSide 34"/>
          <p:cNvSpPr/>
          <p:nvPr/>
        </p:nvSpPr>
        <p:spPr>
          <a:xfrm>
            <a:off x="2375726" y="657860"/>
            <a:ext cx="45720" cy="325120"/>
          </a:xfrm>
          <a:custGeom>
            <a:avLst/>
            <a:gdLst/>
            <a:ahLst/>
            <a:cxnLst/>
            <a:rect l="0" t="0" r="r" b="b"/>
            <a:pathLst>
              <a:path w="45720" h="325120">
                <a:moveTo>
                  <a:pt x="0" y="45720"/>
                </a:moveTo>
                <a:lnTo>
                  <a:pt x="45720" y="0"/>
                </a:lnTo>
                <a:lnTo>
                  <a:pt x="45720" y="279400"/>
                </a:lnTo>
                <a:lnTo>
                  <a:pt x="0" y="325120"/>
                </a:lnTo>
                <a:close/>
              </a:path>
            </a:pathLst>
          </a:custGeom>
          <a:solidFill>
            <a:srgbClr val="D3DCDF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5" name="SlabFace 35"/>
          <p:cNvSpPr/>
          <p:nvPr/>
        </p:nvSpPr>
        <p:spPr>
          <a:xfrm>
            <a:off x="2299526" y="703580"/>
            <a:ext cx="76200" cy="279400"/>
          </a:xfrm>
          <a:prstGeom prst="rect">
            <a:avLst/>
          </a:prstGeom>
          <a:solidFill>
            <a:srgbClr val="EBF5F8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6" name="Caption 36"/>
          <p:cNvSpPr txBox="1"/>
          <p:nvPr/>
        </p:nvSpPr>
        <p:spPr>
          <a:xfrm>
            <a:off x="2070926" y="1021080"/>
            <a:ext cx="350520" cy="965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6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lang="en-US" sz="66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37" name="SlabTop 37"/>
          <p:cNvSpPr/>
          <p:nvPr/>
        </p:nvSpPr>
        <p:spPr>
          <a:xfrm>
            <a:off x="2510346" y="6578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EF6F9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8" name="SlabSide 38"/>
          <p:cNvSpPr/>
          <p:nvPr/>
        </p:nvSpPr>
        <p:spPr>
          <a:xfrm>
            <a:off x="2586546" y="657860"/>
            <a:ext cx="45720" cy="325120"/>
          </a:xfrm>
          <a:custGeom>
            <a:avLst/>
            <a:gdLst/>
            <a:ahLst/>
            <a:cxnLst/>
            <a:rect l="0" t="0" r="r" b="b"/>
            <a:pathLst>
              <a:path w="45720" h="325120">
                <a:moveTo>
                  <a:pt x="0" y="45720"/>
                </a:moveTo>
                <a:lnTo>
                  <a:pt x="45720" y="0"/>
                </a:lnTo>
                <a:lnTo>
                  <a:pt x="45720" y="279400"/>
                </a:lnTo>
                <a:lnTo>
                  <a:pt x="0" y="325120"/>
                </a:lnTo>
                <a:close/>
              </a:path>
            </a:pathLst>
          </a:custGeom>
          <a:solidFill>
            <a:srgbClr val="D3DCDF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9" name="SlabFace 39"/>
          <p:cNvSpPr/>
          <p:nvPr/>
        </p:nvSpPr>
        <p:spPr>
          <a:xfrm>
            <a:off x="2510346" y="703580"/>
            <a:ext cx="76200" cy="279400"/>
          </a:xfrm>
          <a:prstGeom prst="rect">
            <a:avLst/>
          </a:prstGeom>
          <a:solidFill>
            <a:srgbClr val="EBF5F8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0" name="SlabTop 40"/>
          <p:cNvSpPr/>
          <p:nvPr/>
        </p:nvSpPr>
        <p:spPr>
          <a:xfrm>
            <a:off x="2624646" y="6578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EF6F9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1" name="SlabSide 41"/>
          <p:cNvSpPr/>
          <p:nvPr/>
        </p:nvSpPr>
        <p:spPr>
          <a:xfrm>
            <a:off x="2700846" y="657860"/>
            <a:ext cx="45720" cy="325120"/>
          </a:xfrm>
          <a:custGeom>
            <a:avLst/>
            <a:gdLst/>
            <a:ahLst/>
            <a:cxnLst/>
            <a:rect l="0" t="0" r="r" b="b"/>
            <a:pathLst>
              <a:path w="45720" h="325120">
                <a:moveTo>
                  <a:pt x="0" y="45720"/>
                </a:moveTo>
                <a:lnTo>
                  <a:pt x="45720" y="0"/>
                </a:lnTo>
                <a:lnTo>
                  <a:pt x="45720" y="279400"/>
                </a:lnTo>
                <a:lnTo>
                  <a:pt x="0" y="325120"/>
                </a:lnTo>
                <a:close/>
              </a:path>
            </a:pathLst>
          </a:custGeom>
          <a:solidFill>
            <a:srgbClr val="D3DCDF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2" name="SlabFace 42"/>
          <p:cNvSpPr/>
          <p:nvPr/>
        </p:nvSpPr>
        <p:spPr>
          <a:xfrm>
            <a:off x="2624646" y="703580"/>
            <a:ext cx="76200" cy="279400"/>
          </a:xfrm>
          <a:prstGeom prst="rect">
            <a:avLst/>
          </a:prstGeom>
          <a:solidFill>
            <a:srgbClr val="EBF5F8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3" name="SlabTop 43"/>
          <p:cNvSpPr/>
          <p:nvPr/>
        </p:nvSpPr>
        <p:spPr>
          <a:xfrm>
            <a:off x="2738946" y="6578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EF6F9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4" name="SlabSide 44"/>
          <p:cNvSpPr/>
          <p:nvPr/>
        </p:nvSpPr>
        <p:spPr>
          <a:xfrm>
            <a:off x="2815146" y="657860"/>
            <a:ext cx="45720" cy="325120"/>
          </a:xfrm>
          <a:custGeom>
            <a:avLst/>
            <a:gdLst/>
            <a:ahLst/>
            <a:cxnLst/>
            <a:rect l="0" t="0" r="r" b="b"/>
            <a:pathLst>
              <a:path w="45720" h="325120">
                <a:moveTo>
                  <a:pt x="0" y="45720"/>
                </a:moveTo>
                <a:lnTo>
                  <a:pt x="45720" y="0"/>
                </a:lnTo>
                <a:lnTo>
                  <a:pt x="45720" y="279400"/>
                </a:lnTo>
                <a:lnTo>
                  <a:pt x="0" y="325120"/>
                </a:lnTo>
                <a:close/>
              </a:path>
            </a:pathLst>
          </a:custGeom>
          <a:solidFill>
            <a:srgbClr val="D3DCDF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5" name="SlabFace 45"/>
          <p:cNvSpPr/>
          <p:nvPr/>
        </p:nvSpPr>
        <p:spPr>
          <a:xfrm>
            <a:off x="2738946" y="703580"/>
            <a:ext cx="76200" cy="279400"/>
          </a:xfrm>
          <a:prstGeom prst="rect">
            <a:avLst/>
          </a:prstGeom>
          <a:solidFill>
            <a:srgbClr val="EBF5F8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6" name="Caption 46"/>
          <p:cNvSpPr txBox="1"/>
          <p:nvPr/>
        </p:nvSpPr>
        <p:spPr>
          <a:xfrm>
            <a:off x="2510346" y="1021080"/>
            <a:ext cx="350520" cy="965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60" dirty="0">
                <a:solidFill>
                  <a:srgbClr val="000000"/>
                </a:solidFill>
                <a:latin typeface="Times New Roman"/>
                <a:cs typeface="Times New Roman"/>
              </a:rPr>
              <a:t>g</a:t>
            </a:r>
            <a:r>
              <a:rPr lang="en-US" sz="66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47" name="Stage 47"/>
          <p:cNvSpPr/>
          <p:nvPr/>
        </p:nvSpPr>
        <p:spPr>
          <a:xfrm>
            <a:off x="1994726" y="1511300"/>
            <a:ext cx="942340" cy="891540"/>
          </a:xfrm>
          <a:prstGeom prst="roundRect">
            <a:avLst>
              <a:gd name="adj" fmla="val 3703"/>
            </a:avLst>
          </a:prstGeom>
          <a:solidFill>
            <a:srgbClr val="EBF5F8"/>
          </a:solidFill>
          <a:ln w="6985" cap="flat">
            <a:solidFill>
              <a:srgbClr val="31859B"/>
            </a:solidFill>
            <a:prstDash val="dash"/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8" name="Shape 48"/>
          <p:cNvSpPr/>
          <p:nvPr/>
        </p:nvSpPr>
        <p:spPr>
          <a:xfrm>
            <a:off x="2110296" y="1587500"/>
            <a:ext cx="711200" cy="228600"/>
          </a:xfrm>
          <a:custGeom>
            <a:avLst/>
            <a:gdLst/>
            <a:ahLst/>
            <a:cxnLst/>
            <a:rect l="0" t="0" r="r" b="b"/>
            <a:pathLst>
              <a:path w="711200" h="228600">
                <a:moveTo>
                  <a:pt x="0" y="0"/>
                </a:moveTo>
                <a:lnTo>
                  <a:pt x="711200" y="50292"/>
                </a:lnTo>
                <a:lnTo>
                  <a:pt x="711200" y="178308"/>
                </a:lnTo>
                <a:lnTo>
                  <a:pt x="0" y="228600"/>
                </a:lnTo>
                <a:close/>
              </a:path>
            </a:pathLst>
          </a:custGeom>
          <a:solidFill>
            <a:srgbClr val="EBF5F8"/>
          </a:solidFill>
          <a:ln w="8255" cap="flat">
            <a:solidFill>
              <a:srgbClr val="A5A5A5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Endpoint 1</a:t>
            </a:r>
          </a:p>
        </p:txBody>
      </p:sp>
      <p:sp>
        <p:nvSpPr>
          <p:cNvPr id="49" name="SlabTop 49"/>
          <p:cNvSpPr/>
          <p:nvPr/>
        </p:nvSpPr>
        <p:spPr>
          <a:xfrm>
            <a:off x="2070926" y="187960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EF6F9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0" name="SlabSide 50"/>
          <p:cNvSpPr/>
          <p:nvPr/>
        </p:nvSpPr>
        <p:spPr>
          <a:xfrm>
            <a:off x="2147126" y="1879600"/>
            <a:ext cx="45720" cy="325120"/>
          </a:xfrm>
          <a:custGeom>
            <a:avLst/>
            <a:gdLst/>
            <a:ahLst/>
            <a:cxnLst/>
            <a:rect l="0" t="0" r="r" b="b"/>
            <a:pathLst>
              <a:path w="45720" h="325120">
                <a:moveTo>
                  <a:pt x="0" y="45720"/>
                </a:moveTo>
                <a:lnTo>
                  <a:pt x="45720" y="0"/>
                </a:lnTo>
                <a:lnTo>
                  <a:pt x="45720" y="279400"/>
                </a:lnTo>
                <a:lnTo>
                  <a:pt x="0" y="325120"/>
                </a:lnTo>
                <a:close/>
              </a:path>
            </a:pathLst>
          </a:custGeom>
          <a:solidFill>
            <a:srgbClr val="D3DCDF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1" name="SlabFace 51"/>
          <p:cNvSpPr/>
          <p:nvPr/>
        </p:nvSpPr>
        <p:spPr>
          <a:xfrm>
            <a:off x="2070926" y="1925320"/>
            <a:ext cx="76200" cy="279400"/>
          </a:xfrm>
          <a:prstGeom prst="rect">
            <a:avLst/>
          </a:prstGeom>
          <a:solidFill>
            <a:srgbClr val="EBF5F8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2" name="SlabTop 52"/>
          <p:cNvSpPr/>
          <p:nvPr/>
        </p:nvSpPr>
        <p:spPr>
          <a:xfrm>
            <a:off x="2185226" y="187960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EF6F9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3" name="SlabSide 53"/>
          <p:cNvSpPr/>
          <p:nvPr/>
        </p:nvSpPr>
        <p:spPr>
          <a:xfrm>
            <a:off x="2261426" y="1879600"/>
            <a:ext cx="45720" cy="325120"/>
          </a:xfrm>
          <a:custGeom>
            <a:avLst/>
            <a:gdLst/>
            <a:ahLst/>
            <a:cxnLst/>
            <a:rect l="0" t="0" r="r" b="b"/>
            <a:pathLst>
              <a:path w="45720" h="325120">
                <a:moveTo>
                  <a:pt x="0" y="45720"/>
                </a:moveTo>
                <a:lnTo>
                  <a:pt x="45720" y="0"/>
                </a:lnTo>
                <a:lnTo>
                  <a:pt x="45720" y="279400"/>
                </a:lnTo>
                <a:lnTo>
                  <a:pt x="0" y="325120"/>
                </a:lnTo>
                <a:close/>
              </a:path>
            </a:pathLst>
          </a:custGeom>
          <a:solidFill>
            <a:srgbClr val="D3DCDF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4" name="SlabFace 54"/>
          <p:cNvSpPr/>
          <p:nvPr/>
        </p:nvSpPr>
        <p:spPr>
          <a:xfrm>
            <a:off x="2185226" y="1925320"/>
            <a:ext cx="76200" cy="279400"/>
          </a:xfrm>
          <a:prstGeom prst="rect">
            <a:avLst/>
          </a:prstGeom>
          <a:solidFill>
            <a:srgbClr val="EBF5F8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5" name="SlabTop 55"/>
          <p:cNvSpPr/>
          <p:nvPr/>
        </p:nvSpPr>
        <p:spPr>
          <a:xfrm>
            <a:off x="2299526" y="187960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EF6F9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6" name="SlabSide 56"/>
          <p:cNvSpPr/>
          <p:nvPr/>
        </p:nvSpPr>
        <p:spPr>
          <a:xfrm>
            <a:off x="2375726" y="1879600"/>
            <a:ext cx="45720" cy="325120"/>
          </a:xfrm>
          <a:custGeom>
            <a:avLst/>
            <a:gdLst/>
            <a:ahLst/>
            <a:cxnLst/>
            <a:rect l="0" t="0" r="r" b="b"/>
            <a:pathLst>
              <a:path w="45720" h="325120">
                <a:moveTo>
                  <a:pt x="0" y="45720"/>
                </a:moveTo>
                <a:lnTo>
                  <a:pt x="45720" y="0"/>
                </a:lnTo>
                <a:lnTo>
                  <a:pt x="45720" y="279400"/>
                </a:lnTo>
                <a:lnTo>
                  <a:pt x="0" y="325120"/>
                </a:lnTo>
                <a:close/>
              </a:path>
            </a:pathLst>
          </a:custGeom>
          <a:solidFill>
            <a:srgbClr val="D3DCDF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7" name="SlabFace 57"/>
          <p:cNvSpPr/>
          <p:nvPr/>
        </p:nvSpPr>
        <p:spPr>
          <a:xfrm>
            <a:off x="2299526" y="1925320"/>
            <a:ext cx="76200" cy="279400"/>
          </a:xfrm>
          <a:prstGeom prst="rect">
            <a:avLst/>
          </a:prstGeom>
          <a:solidFill>
            <a:srgbClr val="EBF5F8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8" name="Caption 58"/>
          <p:cNvSpPr txBox="1"/>
          <p:nvPr/>
        </p:nvSpPr>
        <p:spPr>
          <a:xfrm>
            <a:off x="2070926" y="2242820"/>
            <a:ext cx="350520" cy="965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6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lang="en-US" sz="66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59" name="SlabTop 59"/>
          <p:cNvSpPr/>
          <p:nvPr/>
        </p:nvSpPr>
        <p:spPr>
          <a:xfrm>
            <a:off x="2510346" y="187960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EF6F9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0" name="SlabSide 60"/>
          <p:cNvSpPr/>
          <p:nvPr/>
        </p:nvSpPr>
        <p:spPr>
          <a:xfrm>
            <a:off x="2586546" y="1879600"/>
            <a:ext cx="45720" cy="325120"/>
          </a:xfrm>
          <a:custGeom>
            <a:avLst/>
            <a:gdLst/>
            <a:ahLst/>
            <a:cxnLst/>
            <a:rect l="0" t="0" r="r" b="b"/>
            <a:pathLst>
              <a:path w="45720" h="325120">
                <a:moveTo>
                  <a:pt x="0" y="45720"/>
                </a:moveTo>
                <a:lnTo>
                  <a:pt x="45720" y="0"/>
                </a:lnTo>
                <a:lnTo>
                  <a:pt x="45720" y="279400"/>
                </a:lnTo>
                <a:lnTo>
                  <a:pt x="0" y="325120"/>
                </a:lnTo>
                <a:close/>
              </a:path>
            </a:pathLst>
          </a:custGeom>
          <a:solidFill>
            <a:srgbClr val="D3DCDF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1" name="SlabFace 61"/>
          <p:cNvSpPr/>
          <p:nvPr/>
        </p:nvSpPr>
        <p:spPr>
          <a:xfrm>
            <a:off x="2510346" y="1925320"/>
            <a:ext cx="76200" cy="279400"/>
          </a:xfrm>
          <a:prstGeom prst="rect">
            <a:avLst/>
          </a:prstGeom>
          <a:solidFill>
            <a:srgbClr val="EBF5F8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2" name="SlabTop 62"/>
          <p:cNvSpPr/>
          <p:nvPr/>
        </p:nvSpPr>
        <p:spPr>
          <a:xfrm>
            <a:off x="2624646" y="187960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EF6F9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3" name="SlabSide 63"/>
          <p:cNvSpPr/>
          <p:nvPr/>
        </p:nvSpPr>
        <p:spPr>
          <a:xfrm>
            <a:off x="2700846" y="1879600"/>
            <a:ext cx="45720" cy="325120"/>
          </a:xfrm>
          <a:custGeom>
            <a:avLst/>
            <a:gdLst/>
            <a:ahLst/>
            <a:cxnLst/>
            <a:rect l="0" t="0" r="r" b="b"/>
            <a:pathLst>
              <a:path w="45720" h="325120">
                <a:moveTo>
                  <a:pt x="0" y="45720"/>
                </a:moveTo>
                <a:lnTo>
                  <a:pt x="45720" y="0"/>
                </a:lnTo>
                <a:lnTo>
                  <a:pt x="45720" y="279400"/>
                </a:lnTo>
                <a:lnTo>
                  <a:pt x="0" y="325120"/>
                </a:lnTo>
                <a:close/>
              </a:path>
            </a:pathLst>
          </a:custGeom>
          <a:solidFill>
            <a:srgbClr val="D3DCDF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4" name="SlabFace 64"/>
          <p:cNvSpPr/>
          <p:nvPr/>
        </p:nvSpPr>
        <p:spPr>
          <a:xfrm>
            <a:off x="2624646" y="1925320"/>
            <a:ext cx="76200" cy="279400"/>
          </a:xfrm>
          <a:prstGeom prst="rect">
            <a:avLst/>
          </a:prstGeom>
          <a:solidFill>
            <a:srgbClr val="EBF5F8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5" name="SlabTop 65"/>
          <p:cNvSpPr/>
          <p:nvPr/>
        </p:nvSpPr>
        <p:spPr>
          <a:xfrm>
            <a:off x="2738946" y="187960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EF6F9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6" name="SlabSide 66"/>
          <p:cNvSpPr/>
          <p:nvPr/>
        </p:nvSpPr>
        <p:spPr>
          <a:xfrm>
            <a:off x="2815146" y="1879600"/>
            <a:ext cx="45720" cy="325120"/>
          </a:xfrm>
          <a:custGeom>
            <a:avLst/>
            <a:gdLst/>
            <a:ahLst/>
            <a:cxnLst/>
            <a:rect l="0" t="0" r="r" b="b"/>
            <a:pathLst>
              <a:path w="45720" h="325120">
                <a:moveTo>
                  <a:pt x="0" y="45720"/>
                </a:moveTo>
                <a:lnTo>
                  <a:pt x="45720" y="0"/>
                </a:lnTo>
                <a:lnTo>
                  <a:pt x="45720" y="279400"/>
                </a:lnTo>
                <a:lnTo>
                  <a:pt x="0" y="325120"/>
                </a:lnTo>
                <a:close/>
              </a:path>
            </a:pathLst>
          </a:custGeom>
          <a:solidFill>
            <a:srgbClr val="D3DCDF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7" name="SlabFace 67"/>
          <p:cNvSpPr/>
          <p:nvPr/>
        </p:nvSpPr>
        <p:spPr>
          <a:xfrm>
            <a:off x="2738946" y="1925320"/>
            <a:ext cx="76200" cy="279400"/>
          </a:xfrm>
          <a:prstGeom prst="rect">
            <a:avLst/>
          </a:prstGeom>
          <a:solidFill>
            <a:srgbClr val="EBF5F8"/>
          </a:solidFill>
          <a:ln w="8255" cap="flat">
            <a:solidFill>
              <a:srgbClr val="31859B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8" name="Caption 68"/>
          <p:cNvSpPr txBox="1"/>
          <p:nvPr/>
        </p:nvSpPr>
        <p:spPr>
          <a:xfrm>
            <a:off x="2510346" y="2242820"/>
            <a:ext cx="350520" cy="965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60" dirty="0">
                <a:solidFill>
                  <a:srgbClr val="000000"/>
                </a:solidFill>
                <a:latin typeface="Times New Roman"/>
                <a:cs typeface="Times New Roman"/>
              </a:rPr>
              <a:t>g</a:t>
            </a:r>
            <a:r>
              <a:rPr lang="en-US" sz="66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9" name="Stage 69"/>
          <p:cNvSpPr/>
          <p:nvPr/>
        </p:nvSpPr>
        <p:spPr>
          <a:xfrm>
            <a:off x="3296056" y="213360"/>
            <a:ext cx="1676400" cy="1424940"/>
          </a:xfrm>
          <a:prstGeom prst="roundRect">
            <a:avLst>
              <a:gd name="adj" fmla="val 2317"/>
            </a:avLst>
          </a:prstGeom>
          <a:solidFill>
            <a:srgbClr val="FDF0E6"/>
          </a:solidFill>
          <a:ln w="6985" cap="flat">
            <a:solidFill>
              <a:srgbClr val="ED7D31"/>
            </a:solidFill>
            <a:prstDash val="dash"/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70" name="StageTitle 70"/>
          <p:cNvSpPr txBox="1"/>
          <p:nvPr/>
        </p:nvSpPr>
        <p:spPr>
          <a:xfrm>
            <a:off x="3296056" y="63500"/>
            <a:ext cx="1676400" cy="1244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/>
                <a:cs typeface="Times New Roman"/>
              </a:rPr>
              <a:t>CrossPath Compatibility Matrix</a:t>
            </a:r>
          </a:p>
        </p:txBody>
      </p:sp>
      <p:sp>
        <p:nvSpPr>
          <p:cNvPr id="71" name="Module 71"/>
          <p:cNvSpPr/>
          <p:nvPr/>
        </p:nvSpPr>
        <p:spPr>
          <a:xfrm>
            <a:off x="3397656" y="314960"/>
            <a:ext cx="698500" cy="195580"/>
          </a:xfrm>
          <a:prstGeom prst="roundRect">
            <a:avLst>
              <a:gd name="adj" fmla="val 16883"/>
            </a:avLst>
          </a:prstGeom>
          <a:solidFill>
            <a:srgbClr val="F2F2F2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lang="en-US" sz="7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 · g</a:t>
            </a:r>
            <a:r>
              <a:rPr lang="en-US" sz="7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72" name="Module 72"/>
          <p:cNvSpPr/>
          <p:nvPr/>
        </p:nvSpPr>
        <p:spPr>
          <a:xfrm>
            <a:off x="4172356" y="314960"/>
            <a:ext cx="698500" cy="195580"/>
          </a:xfrm>
          <a:prstGeom prst="roundRect">
            <a:avLst>
              <a:gd name="adj" fmla="val 16883"/>
            </a:avLst>
          </a:prstGeom>
          <a:solidFill>
            <a:srgbClr val="FFE699"/>
          </a:solidFill>
          <a:ln w="8255" cap="flat">
            <a:solidFill>
              <a:srgbClr val="BF9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lang="en-US" sz="7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 · g</a:t>
            </a:r>
            <a:r>
              <a:rPr lang="en-US" sz="7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73" name="Module 73"/>
          <p:cNvSpPr/>
          <p:nvPr/>
        </p:nvSpPr>
        <p:spPr>
          <a:xfrm>
            <a:off x="3397656" y="815340"/>
            <a:ext cx="698500" cy="195580"/>
          </a:xfrm>
          <a:prstGeom prst="roundRect">
            <a:avLst>
              <a:gd name="adj" fmla="val 16883"/>
            </a:avLst>
          </a:prstGeom>
          <a:solidFill>
            <a:srgbClr val="FFE699"/>
          </a:solidFill>
          <a:ln w="8255" cap="flat">
            <a:solidFill>
              <a:srgbClr val="BF9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lang="en-US" sz="7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 · g</a:t>
            </a:r>
            <a:r>
              <a:rPr lang="en-US" sz="7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74" name="Module 74"/>
          <p:cNvSpPr/>
          <p:nvPr/>
        </p:nvSpPr>
        <p:spPr>
          <a:xfrm>
            <a:off x="4172356" y="815340"/>
            <a:ext cx="698500" cy="195580"/>
          </a:xfrm>
          <a:prstGeom prst="roundRect">
            <a:avLst>
              <a:gd name="adj" fmla="val 16883"/>
            </a:avLst>
          </a:prstGeom>
          <a:solidFill>
            <a:srgbClr val="F2F2F2"/>
          </a:solidFill>
          <a:ln w="8255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lang="en-US" sz="7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 · g</a:t>
            </a:r>
            <a:r>
              <a:rPr lang="en-US" sz="7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75" name="Module 75"/>
          <p:cNvSpPr/>
          <p:nvPr/>
        </p:nvSpPr>
        <p:spPr>
          <a:xfrm>
            <a:off x="3551606" y="1341120"/>
            <a:ext cx="1165301" cy="195580"/>
          </a:xfrm>
          <a:prstGeom prst="roundRect">
            <a:avLst>
              <a:gd name="adj" fmla="val 16883"/>
            </a:avLst>
          </a:prstGeom>
          <a:solidFill>
            <a:srgbClr val="FFF2CC"/>
          </a:solidFill>
          <a:ln w="8255" cap="flat">
            <a:solidFill>
              <a:srgbClr val="BF9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Off-diagonal retrieval paths</a:t>
            </a:r>
          </a:p>
        </p:txBody>
      </p:sp>
      <p:sp>
        <p:nvSpPr>
          <p:cNvPr id="76" name="Stage 76"/>
          <p:cNvSpPr/>
          <p:nvPr/>
        </p:nvSpPr>
        <p:spPr>
          <a:xfrm>
            <a:off x="5255260" y="213360"/>
            <a:ext cx="1016000" cy="2235454"/>
          </a:xfrm>
          <a:prstGeom prst="roundRect">
            <a:avLst>
              <a:gd name="adj" fmla="val 3250"/>
            </a:avLst>
          </a:prstGeom>
          <a:noFill/>
          <a:ln w="6985" cap="flat">
            <a:solidFill>
              <a:srgbClr val="A5A5A5"/>
            </a:solidFill>
            <a:prstDash val="dash"/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77" name="StageTitle 77"/>
          <p:cNvSpPr txBox="1"/>
          <p:nvPr/>
        </p:nvSpPr>
        <p:spPr>
          <a:xfrm>
            <a:off x="5255260" y="63500"/>
            <a:ext cx="1016000" cy="1244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/>
                <a:cs typeface="Times New Roman"/>
              </a:rPr>
              <a:t>Path Fusion and Ranking</a:t>
            </a:r>
          </a:p>
        </p:txBody>
      </p:sp>
      <p:sp>
        <p:nvSpPr>
          <p:cNvPr id="78" name="Module 78"/>
          <p:cNvSpPr/>
          <p:nvPr/>
        </p:nvSpPr>
        <p:spPr>
          <a:xfrm>
            <a:off x="5331460" y="289560"/>
            <a:ext cx="863600" cy="316484"/>
          </a:xfrm>
          <a:prstGeom prst="roundRect">
            <a:avLst>
              <a:gd name="adj" fmla="val 10433"/>
            </a:avLst>
          </a:prstGeom>
          <a:solidFill>
            <a:srgbClr val="FFF2CC"/>
          </a:solidFill>
          <a:ln w="8255" cap="flat">
            <a:solidFill>
              <a:srgbClr val="BF9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Cross mean</a:t>
            </a:r>
          </a:p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0 parameters</a:t>
            </a:r>
          </a:p>
        </p:txBody>
      </p:sp>
      <p:sp>
        <p:nvSpPr>
          <p:cNvPr id="79" name="Label 79"/>
          <p:cNvSpPr txBox="1"/>
          <p:nvPr/>
        </p:nvSpPr>
        <p:spPr>
          <a:xfrm>
            <a:off x="5726570" y="720344"/>
            <a:ext cx="73387" cy="8255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50" i="1" dirty="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</a:p>
        </p:txBody>
      </p:sp>
      <p:sp>
        <p:nvSpPr>
          <p:cNvPr id="80" name="Shape 80"/>
          <p:cNvSpPr/>
          <p:nvPr/>
        </p:nvSpPr>
        <p:spPr>
          <a:xfrm>
            <a:off x="5331460" y="917194"/>
            <a:ext cx="863600" cy="355600"/>
          </a:xfrm>
          <a:custGeom>
            <a:avLst/>
            <a:gdLst/>
            <a:ahLst/>
            <a:cxnLst/>
            <a:rect l="0" t="0" r="r" b="b"/>
            <a:pathLst>
              <a:path w="863600" h="355600">
                <a:moveTo>
                  <a:pt x="138176" y="0"/>
                </a:moveTo>
                <a:lnTo>
                  <a:pt x="725424" y="0"/>
                </a:lnTo>
                <a:lnTo>
                  <a:pt x="863600" y="177800"/>
                </a:lnTo>
                <a:lnTo>
                  <a:pt x="725424" y="355600"/>
                </a:lnTo>
                <a:lnTo>
                  <a:pt x="138176" y="355600"/>
                </a:lnTo>
                <a:lnTo>
                  <a:pt x="0" y="177800"/>
                </a:lnTo>
                <a:close/>
              </a:path>
            </a:pathLst>
          </a:custGeom>
          <a:solidFill>
            <a:srgbClr val="FFF2CC"/>
          </a:solidFill>
          <a:ln w="8255" cap="flat">
            <a:solidFill>
              <a:srgbClr val="BF9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Cutoff-aware</a:t>
            </a:r>
          </a:p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routing</a:t>
            </a:r>
          </a:p>
        </p:txBody>
      </p:sp>
      <p:pic>
        <p:nvPicPr>
          <p:cNvPr id="81" name="Panel 81"/>
          <p:cNvPicPr>
            <a:picLocks noChangeAspect="0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060" y="1590294"/>
            <a:ext cx="660400" cy="660400"/>
          </a:xfrm>
          <a:prstGeom prst="rect">
            <a:avLst/>
          </a:prstGeom>
          <a:ln w="3810">
            <a:solidFill>
              <a:srgbClr val="000000"/>
            </a:solidFill>
          </a:ln>
        </p:spPr>
      </p:pic>
      <p:sp>
        <p:nvSpPr>
          <p:cNvPr id="82" name="Caption 82"/>
          <p:cNvSpPr txBox="1"/>
          <p:nvPr/>
        </p:nvSpPr>
        <p:spPr>
          <a:xfrm>
            <a:off x="5433060" y="2288794"/>
            <a:ext cx="660400" cy="965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60" dirty="0">
                <a:solidFill>
                  <a:srgbClr val="000000"/>
                </a:solidFill>
                <a:latin typeface="Times New Roman"/>
                <a:cs typeface="Times New Roman"/>
              </a:rPr>
              <a:t>Recovered target</a:t>
            </a:r>
          </a:p>
        </p:txBody>
      </p:sp>
      <p:sp>
        <p:nvSpPr>
          <p:cNvPr id="83" name="Badge 83"/>
          <p:cNvSpPr txBox="1"/>
          <p:nvPr/>
        </p:nvSpPr>
        <p:spPr>
          <a:xfrm>
            <a:off x="5788660" y="1489964"/>
            <a:ext cx="304800" cy="11938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r"/>
            <a:r>
              <a:rPr lang="en-US" sz="640" i="1" dirty="0">
                <a:solidFill>
                  <a:srgbClr val="000000"/>
                </a:solidFill>
                <a:latin typeface="Times New Roman"/>
                <a:cs typeface="Times New Roman"/>
              </a:rPr>
              <a:t>rank 9 → 1</a:t>
            </a:r>
          </a:p>
        </p:txBody>
      </p:sp>
      <p:sp>
        <p:nvSpPr>
          <p:cNvPr id="84" name="Flow 84"/>
          <p:cNvSpPr/>
          <p:nvPr/>
        </p:nvSpPr>
        <p:spPr>
          <a:xfrm>
            <a:off x="698500" y="642620"/>
            <a:ext cx="63500" cy="1270"/>
          </a:xfrm>
          <a:custGeom>
            <a:avLst/>
            <a:gdLst/>
            <a:ahLst/>
            <a:cxnLst/>
            <a:rect l="0" t="0" r="r" b="b"/>
            <a:pathLst>
              <a:path w="63500" h="127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8255" cap="flat">
            <a:solidFill>
              <a:srgbClr val="A5A5A5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85" name="Flow 85"/>
          <p:cNvSpPr/>
          <p:nvPr/>
        </p:nvSpPr>
        <p:spPr>
          <a:xfrm>
            <a:off x="1635722" y="1069340"/>
            <a:ext cx="282804" cy="276860"/>
          </a:xfrm>
          <a:custGeom>
            <a:avLst/>
            <a:gdLst/>
            <a:ahLst/>
            <a:cxnLst/>
            <a:rect l="0" t="0" r="r" b="b"/>
            <a:pathLst>
              <a:path w="282804" h="276860" fill="none">
                <a:moveTo>
                  <a:pt x="0" y="0"/>
                </a:moveTo>
                <a:lnTo>
                  <a:pt x="282804" y="276860"/>
                </a:lnTo>
              </a:path>
            </a:pathLst>
          </a:custGeom>
          <a:noFill/>
          <a:ln w="10160" cap="flat">
            <a:solidFill>
              <a:srgbClr val="000000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86" name="FlowLabel 86"/>
          <p:cNvSpPr txBox="1"/>
          <p:nvPr/>
        </p:nvSpPr>
        <p:spPr>
          <a:xfrm>
            <a:off x="1664960" y="1235710"/>
            <a:ext cx="507131" cy="10414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20" dirty="0">
                <a:solidFill>
                  <a:srgbClr val="000000"/>
                </a:solidFill>
                <a:latin typeface="Times New Roman"/>
                <a:cs typeface="Times New Roman"/>
              </a:rPr>
              <a:t>query + gallery</a:t>
            </a:r>
          </a:p>
        </p:txBody>
      </p:sp>
      <p:sp>
        <p:nvSpPr>
          <p:cNvPr id="87" name="Flow 87"/>
          <p:cNvSpPr/>
          <p:nvPr/>
        </p:nvSpPr>
        <p:spPr>
          <a:xfrm>
            <a:off x="2246186" y="594360"/>
            <a:ext cx="219710" cy="63500"/>
          </a:xfrm>
          <a:custGeom>
            <a:avLst/>
            <a:gdLst/>
            <a:ahLst/>
            <a:cxnLst/>
            <a:rect l="0" t="0" r="r" b="b"/>
            <a:pathLst>
              <a:path w="219710" h="63500" fill="none">
                <a:moveTo>
                  <a:pt x="219710" y="0"/>
                </a:moveTo>
                <a:lnTo>
                  <a:pt x="219710" y="31750"/>
                </a:lnTo>
                <a:lnTo>
                  <a:pt x="0" y="31750"/>
                </a:lnTo>
                <a:lnTo>
                  <a:pt x="0" y="63500"/>
                </a:lnTo>
              </a:path>
            </a:pathLst>
          </a:custGeom>
          <a:noFill/>
          <a:ln w="8255" cap="flat">
            <a:solidFill>
              <a:srgbClr val="76923C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88" name="Flow 88"/>
          <p:cNvSpPr/>
          <p:nvPr/>
        </p:nvSpPr>
        <p:spPr>
          <a:xfrm>
            <a:off x="2465896" y="594360"/>
            <a:ext cx="219710" cy="76200"/>
          </a:xfrm>
          <a:custGeom>
            <a:avLst/>
            <a:gdLst/>
            <a:ahLst/>
            <a:cxnLst/>
            <a:rect l="0" t="0" r="r" b="b"/>
            <a:pathLst>
              <a:path w="219710" h="76200" fill="none">
                <a:moveTo>
                  <a:pt x="0" y="0"/>
                </a:moveTo>
                <a:lnTo>
                  <a:pt x="0" y="76200"/>
                </a:lnTo>
                <a:lnTo>
                  <a:pt x="219710" y="76200"/>
                </a:lnTo>
                <a:lnTo>
                  <a:pt x="219710" y="63500"/>
                </a:lnTo>
              </a:path>
            </a:pathLst>
          </a:custGeom>
          <a:noFill/>
          <a:ln w="8255" cap="flat">
            <a:solidFill>
              <a:srgbClr val="76923C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89" name="Flow 89"/>
          <p:cNvSpPr/>
          <p:nvPr/>
        </p:nvSpPr>
        <p:spPr>
          <a:xfrm>
            <a:off x="2246186" y="1816100"/>
            <a:ext cx="219710" cy="63500"/>
          </a:xfrm>
          <a:custGeom>
            <a:avLst/>
            <a:gdLst/>
            <a:ahLst/>
            <a:cxnLst/>
            <a:rect l="0" t="0" r="r" b="b"/>
            <a:pathLst>
              <a:path w="219710" h="63500" fill="none">
                <a:moveTo>
                  <a:pt x="219710" y="0"/>
                </a:moveTo>
                <a:lnTo>
                  <a:pt x="219710" y="31750"/>
                </a:lnTo>
                <a:lnTo>
                  <a:pt x="0" y="31750"/>
                </a:lnTo>
                <a:lnTo>
                  <a:pt x="0" y="63500"/>
                </a:lnTo>
              </a:path>
            </a:pathLst>
          </a:custGeom>
          <a:noFill/>
          <a:ln w="8255" cap="flat">
            <a:solidFill>
              <a:srgbClr val="76923C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0" name="Flow 90"/>
          <p:cNvSpPr/>
          <p:nvPr/>
        </p:nvSpPr>
        <p:spPr>
          <a:xfrm>
            <a:off x="2465896" y="1816100"/>
            <a:ext cx="219710" cy="76200"/>
          </a:xfrm>
          <a:custGeom>
            <a:avLst/>
            <a:gdLst/>
            <a:ahLst/>
            <a:cxnLst/>
            <a:rect l="0" t="0" r="r" b="b"/>
            <a:pathLst>
              <a:path w="219710" h="76200" fill="none">
                <a:moveTo>
                  <a:pt x="0" y="0"/>
                </a:moveTo>
                <a:lnTo>
                  <a:pt x="0" y="76200"/>
                </a:lnTo>
                <a:lnTo>
                  <a:pt x="219710" y="76200"/>
                </a:lnTo>
                <a:lnTo>
                  <a:pt x="219710" y="63500"/>
                </a:lnTo>
              </a:path>
            </a:pathLst>
          </a:custGeom>
          <a:noFill/>
          <a:ln w="8255" cap="flat">
            <a:solidFill>
              <a:srgbClr val="76923C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1" name="Flow 91"/>
          <p:cNvSpPr/>
          <p:nvPr/>
        </p:nvSpPr>
        <p:spPr>
          <a:xfrm>
            <a:off x="3013266" y="925830"/>
            <a:ext cx="282791" cy="420370"/>
          </a:xfrm>
          <a:custGeom>
            <a:avLst/>
            <a:gdLst/>
            <a:ahLst/>
            <a:cxnLst/>
            <a:rect l="0" t="0" r="r" b="b"/>
            <a:pathLst>
              <a:path w="282791" h="420370" fill="none">
                <a:moveTo>
                  <a:pt x="0" y="420370"/>
                </a:moveTo>
                <a:lnTo>
                  <a:pt x="282791" y="0"/>
                </a:lnTo>
              </a:path>
            </a:pathLst>
          </a:custGeom>
          <a:noFill/>
          <a:ln w="10160" cap="flat">
            <a:solidFill>
              <a:srgbClr val="000000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2" name="FlowLabel 92"/>
          <p:cNvSpPr txBox="1"/>
          <p:nvPr/>
        </p:nvSpPr>
        <p:spPr>
          <a:xfrm>
            <a:off x="3124813" y="815340"/>
            <a:ext cx="342486" cy="10414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20" dirty="0">
                <a:solidFill>
                  <a:srgbClr val="000000"/>
                </a:solidFill>
                <a:latin typeface="Times New Roman"/>
                <a:cs typeface="Times New Roman"/>
              </a:rPr>
              <a:t>four paths</a:t>
            </a:r>
          </a:p>
        </p:txBody>
      </p:sp>
      <p:sp>
        <p:nvSpPr>
          <p:cNvPr id="93" name="Flow 93"/>
          <p:cNvSpPr/>
          <p:nvPr/>
        </p:nvSpPr>
        <p:spPr>
          <a:xfrm>
            <a:off x="4716907" y="412750"/>
            <a:ext cx="242849" cy="1026160"/>
          </a:xfrm>
          <a:custGeom>
            <a:avLst/>
            <a:gdLst/>
            <a:ahLst/>
            <a:cxnLst/>
            <a:rect l="0" t="0" r="r" b="b"/>
            <a:pathLst>
              <a:path w="242849" h="1026160" fill="none">
                <a:moveTo>
                  <a:pt x="153949" y="0"/>
                </a:moveTo>
                <a:lnTo>
                  <a:pt x="242849" y="0"/>
                </a:lnTo>
                <a:lnTo>
                  <a:pt x="242849" y="1026160"/>
                </a:lnTo>
                <a:lnTo>
                  <a:pt x="0" y="1026160"/>
                </a:lnTo>
              </a:path>
            </a:pathLst>
          </a:custGeom>
          <a:noFill/>
          <a:ln w="8255" cap="flat">
            <a:solidFill>
              <a:srgbClr val="C55A11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4" name="Flow 94"/>
          <p:cNvSpPr/>
          <p:nvPr/>
        </p:nvSpPr>
        <p:spPr>
          <a:xfrm>
            <a:off x="3746906" y="1010920"/>
            <a:ext cx="387350" cy="330200"/>
          </a:xfrm>
          <a:custGeom>
            <a:avLst/>
            <a:gdLst/>
            <a:ahLst/>
            <a:cxnLst/>
            <a:rect l="0" t="0" r="r" b="b"/>
            <a:pathLst>
              <a:path w="387350" h="330200" fill="none">
                <a:moveTo>
                  <a:pt x="0" y="0"/>
                </a:moveTo>
                <a:lnTo>
                  <a:pt x="0" y="88900"/>
                </a:lnTo>
                <a:lnTo>
                  <a:pt x="387350" y="88900"/>
                </a:lnTo>
                <a:lnTo>
                  <a:pt x="387350" y="330200"/>
                </a:lnTo>
              </a:path>
            </a:pathLst>
          </a:custGeom>
          <a:noFill/>
          <a:ln w="8255" cap="flat">
            <a:solidFill>
              <a:srgbClr val="C55A11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5" name="Flow 95"/>
          <p:cNvSpPr/>
          <p:nvPr/>
        </p:nvSpPr>
        <p:spPr>
          <a:xfrm>
            <a:off x="4972456" y="447802"/>
            <a:ext cx="359004" cy="478028"/>
          </a:xfrm>
          <a:custGeom>
            <a:avLst/>
            <a:gdLst/>
            <a:ahLst/>
            <a:cxnLst/>
            <a:rect l="0" t="0" r="r" b="b"/>
            <a:pathLst>
              <a:path w="359004" h="478028" fill="none">
                <a:moveTo>
                  <a:pt x="0" y="478028"/>
                </a:moveTo>
                <a:lnTo>
                  <a:pt x="295504" y="478028"/>
                </a:lnTo>
                <a:lnTo>
                  <a:pt x="295504" y="0"/>
                </a:lnTo>
                <a:lnTo>
                  <a:pt x="359004" y="0"/>
                </a:lnTo>
              </a:path>
            </a:pathLst>
          </a:custGeom>
          <a:noFill/>
          <a:ln w="13970" cap="flat">
            <a:solidFill>
              <a:srgbClr val="C55A11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6" name="Flow 96"/>
          <p:cNvSpPr/>
          <p:nvPr/>
        </p:nvSpPr>
        <p:spPr>
          <a:xfrm>
            <a:off x="4972456" y="925830"/>
            <a:ext cx="359004" cy="169164"/>
          </a:xfrm>
          <a:custGeom>
            <a:avLst/>
            <a:gdLst/>
            <a:ahLst/>
            <a:cxnLst/>
            <a:rect l="0" t="0" r="r" b="b"/>
            <a:pathLst>
              <a:path w="359004" h="169164" fill="none">
                <a:moveTo>
                  <a:pt x="0" y="0"/>
                </a:moveTo>
                <a:lnTo>
                  <a:pt x="295504" y="0"/>
                </a:lnTo>
                <a:lnTo>
                  <a:pt x="295504" y="169164"/>
                </a:lnTo>
                <a:lnTo>
                  <a:pt x="359004" y="169164"/>
                </a:lnTo>
              </a:path>
            </a:pathLst>
          </a:custGeom>
          <a:noFill/>
          <a:ln w="13970" cap="flat">
            <a:solidFill>
              <a:srgbClr val="C55A11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7" name="Flow 97"/>
          <p:cNvSpPr/>
          <p:nvPr/>
        </p:nvSpPr>
        <p:spPr>
          <a:xfrm>
            <a:off x="6093460" y="447802"/>
            <a:ext cx="203200" cy="1533652"/>
          </a:xfrm>
          <a:custGeom>
            <a:avLst/>
            <a:gdLst/>
            <a:ahLst/>
            <a:cxnLst/>
            <a:rect l="0" t="0" r="r" b="b"/>
            <a:pathLst>
              <a:path w="203200" h="1533652" fill="none">
                <a:moveTo>
                  <a:pt x="101600" y="0"/>
                </a:moveTo>
                <a:lnTo>
                  <a:pt x="203200" y="0"/>
                </a:lnTo>
                <a:lnTo>
                  <a:pt x="203200" y="1533652"/>
                </a:lnTo>
                <a:lnTo>
                  <a:pt x="0" y="1533652"/>
                </a:lnTo>
              </a:path>
            </a:pathLst>
          </a:custGeom>
          <a:noFill/>
          <a:ln w="8255" cap="flat">
            <a:solidFill>
              <a:srgbClr val="C55A11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8" name="Flow 98"/>
          <p:cNvSpPr/>
          <p:nvPr/>
        </p:nvSpPr>
        <p:spPr>
          <a:xfrm>
            <a:off x="5763260" y="1272794"/>
            <a:ext cx="1270" cy="317500"/>
          </a:xfrm>
          <a:custGeom>
            <a:avLst/>
            <a:gdLst/>
            <a:ahLst/>
            <a:cxnLst/>
            <a:rect l="0" t="0" r="r" b="b"/>
            <a:pathLst>
              <a:path w="127" h="317500" fill="none">
                <a:moveTo>
                  <a:pt x="0" y="0"/>
                </a:moveTo>
                <a:lnTo>
                  <a:pt x="0" y="317500"/>
                </a:lnTo>
              </a:path>
            </a:pathLst>
          </a:custGeom>
          <a:noFill/>
          <a:ln w="8255" cap="flat">
            <a:solidFill>
              <a:srgbClr val="C55A11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VPR-Fig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