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309360" cy="2864485"/>
  <p:notesSz cx="2864485" cy="63093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100" y="213360"/>
            <a:ext cx="1000310" cy="1429156"/>
          </a:xfrm>
          <a:prstGeom prst="roundRect">
            <a:avLst>
              <a:gd name="adj" fmla="val 3300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100" y="63500"/>
            <a:ext cx="100031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Composed query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anel 4"/>
          <p:cNvPicPr/>
          <p:nvPr/>
        </p:nvPicPr>
        <p:blipFill>
          <a:blip r:embed="rId1"/>
          <a:stretch>
            <a:fillRect/>
          </a:stretch>
        </p:blipFill>
        <p:spPr>
          <a:xfrm>
            <a:off x="259778" y="276860"/>
            <a:ext cx="556965" cy="5969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175041" y="894398"/>
            <a:ext cx="726440" cy="13017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Reference image</a:t>
            </a:r>
            <a:endParaRPr lang="en-US" sz="8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Module 6"/>
          <p:cNvSpPr/>
          <p:nvPr/>
        </p:nvSpPr>
        <p:spPr>
          <a:xfrm>
            <a:off x="69215" y="1249045"/>
            <a:ext cx="937895" cy="304800"/>
          </a:xfrm>
          <a:prstGeom prst="roundRect">
            <a:avLst>
              <a:gd name="adj" fmla="val 11288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Fade front thigh</a:t>
            </a:r>
            <a:endParaRPr lang="en-US" sz="8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8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Add contrast stitching</a:t>
            </a:r>
            <a:endParaRPr lang="en-US" sz="8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Stage 7"/>
          <p:cNvSpPr/>
          <p:nvPr/>
        </p:nvSpPr>
        <p:spPr>
          <a:xfrm>
            <a:off x="1095946" y="213360"/>
            <a:ext cx="1264867" cy="2339289"/>
          </a:xfrm>
          <a:prstGeom prst="roundRect">
            <a:avLst>
              <a:gd name="adj" fmla="val 2610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8" name="StageTitle 8"/>
          <p:cNvSpPr txBox="1"/>
          <p:nvPr/>
        </p:nvSpPr>
        <p:spPr>
          <a:xfrm>
            <a:off x="1095946" y="63500"/>
            <a:ext cx="1264867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Seventeen rank paths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Module 9"/>
          <p:cNvSpPr/>
          <p:nvPr/>
        </p:nvSpPr>
        <p:spPr>
          <a:xfrm>
            <a:off x="1423670" y="333375"/>
            <a:ext cx="666750" cy="130175"/>
          </a:xfrm>
          <a:prstGeom prst="roundRect">
            <a:avLst>
              <a:gd name="adj" fmla="val 17687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Base ranking  S</a:t>
            </a:r>
            <a:r>
              <a:rPr lang="en-US" sz="73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00</a:t>
            </a:r>
            <a:endParaRPr lang="en-US" sz="73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Module 10"/>
          <p:cNvSpPr/>
          <p:nvPr/>
        </p:nvSpPr>
        <p:spPr>
          <a:xfrm>
            <a:off x="1212532" y="772119"/>
            <a:ext cx="426751" cy="231171"/>
          </a:xfrm>
          <a:prstGeom prst="roundRect">
            <a:avLst>
              <a:gd name="adj" fmla="val 11405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Endpoint B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lang="en-US" sz="71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11</a:t>
            </a:r>
            <a:endParaRPr lang="en-US" sz="71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Module 11"/>
          <p:cNvSpPr/>
          <p:nvPr/>
        </p:nvSpPr>
        <p:spPr>
          <a:xfrm>
            <a:off x="1805461" y="769132"/>
            <a:ext cx="442250" cy="237145"/>
          </a:xfrm>
          <a:prstGeom prst="roundRect">
            <a:avLst>
              <a:gd name="adj" fmla="val 11405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Cross mean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Module 12"/>
          <p:cNvSpPr/>
          <p:nvPr/>
        </p:nvSpPr>
        <p:spPr>
          <a:xfrm>
            <a:off x="1288174" y="1365370"/>
            <a:ext cx="880402" cy="129197"/>
          </a:xfrm>
          <a:prstGeom prst="roundRect">
            <a:avLst>
              <a:gd name="adj" fmla="val 17808"/>
            </a:avLst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Convert scores to ranks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Stage 13"/>
          <p:cNvSpPr/>
          <p:nvPr/>
        </p:nvSpPr>
        <p:spPr>
          <a:xfrm>
            <a:off x="1282243" y="1814779"/>
            <a:ext cx="892255" cy="674370"/>
          </a:xfrm>
          <a:prstGeom prst="roundRect">
            <a:avLst>
              <a:gd name="adj" fmla="val 4896"/>
            </a:avLst>
          </a:prstGeom>
          <a:solidFill>
            <a:srgbClr val="FDF2E9"/>
          </a:solidFill>
          <a:ln w="4572" cap="flat">
            <a:solidFill>
              <a:srgbClr val="C55A11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4" name="Module 14"/>
          <p:cNvSpPr/>
          <p:nvPr/>
        </p:nvSpPr>
        <p:spPr>
          <a:xfrm>
            <a:off x="1425575" y="1907540"/>
            <a:ext cx="664210" cy="95885"/>
          </a:xfrm>
          <a:prstGeom prst="roundRect">
            <a:avLst>
              <a:gd name="adj" fmla="val 17931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9 steps toward S</a:t>
            </a:r>
            <a:r>
              <a:rPr lang="en-US" sz="710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11</a:t>
            </a:r>
            <a:endParaRPr lang="en-US" sz="710" baseline="-2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Module 15"/>
          <p:cNvSpPr/>
          <p:nvPr/>
        </p:nvSpPr>
        <p:spPr>
          <a:xfrm>
            <a:off x="1423670" y="2152015"/>
            <a:ext cx="663575" cy="123190"/>
          </a:xfrm>
          <a:prstGeom prst="roundRect">
            <a:avLst>
              <a:gd name="adj" fmla="val 17931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8 steps toward X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Label 16"/>
          <p:cNvSpPr txBox="1"/>
          <p:nvPr/>
        </p:nvSpPr>
        <p:spPr>
          <a:xfrm>
            <a:off x="1373505" y="2311400"/>
            <a:ext cx="716915" cy="1143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1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Base path is shared</a:t>
            </a:r>
            <a:endParaRPr lang="en-US" sz="71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Stage 17"/>
          <p:cNvSpPr/>
          <p:nvPr/>
        </p:nvSpPr>
        <p:spPr>
          <a:xfrm>
            <a:off x="2418334" y="213360"/>
            <a:ext cx="1371600" cy="1790040"/>
          </a:xfrm>
          <a:prstGeom prst="roundRect">
            <a:avLst>
              <a:gd name="adj" fmla="val 2407"/>
            </a:avLst>
          </a:prstGeom>
          <a:solidFill>
            <a:srgbClr val="FDF2E9"/>
          </a:solidFill>
          <a:ln w="4572" cap="flat">
            <a:solidFill>
              <a:srgbClr val="ED7D31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18" name="StageTitle 18"/>
          <p:cNvSpPr txBox="1"/>
          <p:nvPr/>
        </p:nvSpPr>
        <p:spPr>
          <a:xfrm>
            <a:off x="2418334" y="63500"/>
            <a:ext cx="1371600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Candidates near top-k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9" name="Panel 19"/>
          <p:cNvPicPr/>
          <p:nvPr/>
        </p:nvPicPr>
        <p:blipFill>
          <a:blip r:embed="rId2"/>
          <a:stretch>
            <a:fillRect/>
          </a:stretch>
        </p:blipFill>
        <p:spPr>
          <a:xfrm>
            <a:off x="2481834" y="276860"/>
            <a:ext cx="381000" cy="4826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pic>
        <p:nvPicPr>
          <p:cNvPr id="20" name="Panel 20"/>
          <p:cNvPicPr/>
          <p:nvPr/>
        </p:nvPicPr>
        <p:blipFill>
          <a:blip r:embed="rId3"/>
          <a:stretch>
            <a:fillRect/>
          </a:stretch>
        </p:blipFill>
        <p:spPr>
          <a:xfrm>
            <a:off x="2913634" y="276860"/>
            <a:ext cx="381000" cy="4826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pic>
        <p:nvPicPr>
          <p:cNvPr id="21" name="Panel 21"/>
          <p:cNvPicPr/>
          <p:nvPr/>
        </p:nvPicPr>
        <p:blipFill>
          <a:blip r:embed="rId4"/>
          <a:stretch>
            <a:fillRect/>
          </a:stretch>
        </p:blipFill>
        <p:spPr>
          <a:xfrm>
            <a:off x="3345434" y="276860"/>
            <a:ext cx="381000" cy="4826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22" name="Module 22"/>
          <p:cNvSpPr/>
          <p:nvPr/>
        </p:nvSpPr>
        <p:spPr>
          <a:xfrm>
            <a:off x="2625831" y="1092372"/>
            <a:ext cx="956602" cy="129197"/>
          </a:xfrm>
          <a:prstGeom prst="roundRect">
            <a:avLst>
              <a:gd name="adj" fmla="val 17808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Membership changes at k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Module 23"/>
          <p:cNvSpPr/>
          <p:nvPr/>
        </p:nvSpPr>
        <p:spPr>
          <a:xfrm>
            <a:off x="2707112" y="1572103"/>
            <a:ext cx="794040" cy="350175"/>
          </a:xfrm>
          <a:prstGeom prst="roundRect">
            <a:avLst>
              <a:gd name="adj" fmla="val 8567"/>
            </a:avLst>
          </a:prstGeom>
          <a:solidFill>
            <a:srgbClr val="DEEBF7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Query-candidate pair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Rank trace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Cutoff k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Stage 24"/>
          <p:cNvSpPr/>
          <p:nvPr/>
        </p:nvSpPr>
        <p:spPr>
          <a:xfrm>
            <a:off x="3847465" y="213360"/>
            <a:ext cx="1126058" cy="1882902"/>
          </a:xfrm>
          <a:prstGeom prst="roundRect">
            <a:avLst>
              <a:gd name="adj" fmla="val 2932"/>
            </a:avLst>
          </a:prstGeom>
          <a:solidFill>
            <a:srgbClr val="FFF9E6"/>
          </a:solidFill>
          <a:ln w="4572" cap="flat">
            <a:solidFill>
              <a:srgbClr val="BF9000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25" name="StageTitle 25"/>
          <p:cNvSpPr txBox="1"/>
          <p:nvPr/>
        </p:nvSpPr>
        <p:spPr>
          <a:xfrm>
            <a:off x="3847465" y="63500"/>
            <a:ext cx="1126058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Listwise action scoring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Module 26"/>
          <p:cNvSpPr/>
          <p:nvPr/>
        </p:nvSpPr>
        <p:spPr>
          <a:xfrm>
            <a:off x="4082053" y="304654"/>
            <a:ext cx="656882" cy="131102"/>
          </a:xfrm>
          <a:prstGeom prst="roundRect">
            <a:avLst>
              <a:gd name="adj" fmla="val 17687"/>
            </a:avLst>
          </a:prstGeom>
          <a:solidFill>
            <a:srgbClr val="FFD966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Two-layer scorer</a:t>
            </a:r>
            <a:endParaRPr lang="en-US" sz="7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Module 27"/>
          <p:cNvSpPr/>
          <p:nvPr/>
        </p:nvSpPr>
        <p:spPr>
          <a:xfrm>
            <a:off x="3955715" y="794304"/>
            <a:ext cx="503210" cy="234605"/>
          </a:xfrm>
          <a:prstGeom prst="roundRect">
            <a:avLst>
              <a:gd name="adj" fmla="val 11524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Candidate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responsibility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Module 28"/>
          <p:cNvSpPr/>
          <p:nvPr/>
        </p:nvSpPr>
        <p:spPr>
          <a:xfrm>
            <a:off x="4632726" y="794304"/>
            <a:ext cx="211745" cy="234605"/>
          </a:xfrm>
          <a:prstGeom prst="roundRect">
            <a:avLst>
              <a:gd name="adj" fmla="val 11524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None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Module 29"/>
          <p:cNvSpPr/>
          <p:nvPr/>
        </p:nvSpPr>
        <p:spPr>
          <a:xfrm>
            <a:off x="4046493" y="1388408"/>
            <a:ext cx="728002" cy="129197"/>
          </a:xfrm>
          <a:prstGeom prst="roundRect">
            <a:avLst>
              <a:gd name="adj" fmla="val 17808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Utility of each path</a:t>
            </a:r>
            <a:endParaRPr lang="en-US" sz="7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Module 30"/>
          <p:cNvSpPr/>
          <p:nvPr/>
        </p:nvSpPr>
        <p:spPr>
          <a:xfrm>
            <a:off x="3945211" y="1877994"/>
            <a:ext cx="930565" cy="126655"/>
          </a:xfrm>
          <a:prstGeom prst="roundRect">
            <a:avLst>
              <a:gd name="adj" fmla="val 18055"/>
            </a:avLst>
          </a:prstGeom>
          <a:solidFill>
            <a:srgbClr val="EAF1FA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Average over R@1, 5, 10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Stage 31"/>
          <p:cNvSpPr/>
          <p:nvPr/>
        </p:nvSpPr>
        <p:spPr>
          <a:xfrm>
            <a:off x="5031054" y="213360"/>
            <a:ext cx="1240206" cy="2613152"/>
          </a:xfrm>
          <a:prstGeom prst="roundRect">
            <a:avLst>
              <a:gd name="adj" fmla="val 2662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32" name="StageTitle 32"/>
          <p:cNvSpPr txBox="1"/>
          <p:nvPr/>
        </p:nvSpPr>
        <p:spPr>
          <a:xfrm>
            <a:off x="5031054" y="63500"/>
            <a:ext cx="1240206" cy="12446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Safe decision</a:t>
            </a:r>
            <a:endParaRPr lang="en-US" sz="780" b="1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5313680" y="276860"/>
            <a:ext cx="664210" cy="381000"/>
          </a:xfrm>
          <a:custGeom>
            <a:avLst/>
            <a:gdLst/>
            <a:ahLst/>
            <a:cxnLst/>
            <a:rect l="0" t="0" r="r" b="b"/>
            <a:pathLst>
              <a:path w="914400" h="381000">
                <a:moveTo>
                  <a:pt x="146304" y="0"/>
                </a:moveTo>
                <a:lnTo>
                  <a:pt x="768096" y="0"/>
                </a:lnTo>
                <a:lnTo>
                  <a:pt x="914400" y="190500"/>
                </a:lnTo>
                <a:lnTo>
                  <a:pt x="768096" y="381000"/>
                </a:lnTo>
                <a:lnTo>
                  <a:pt x="146304" y="3810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Utility above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threshold?</a:t>
            </a:r>
            <a:endParaRPr lang="en-US" sz="7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Module 34"/>
          <p:cNvSpPr/>
          <p:nvPr/>
        </p:nvSpPr>
        <p:spPr>
          <a:xfrm>
            <a:off x="5147889" y="988614"/>
            <a:ext cx="386370" cy="234605"/>
          </a:xfrm>
          <a:prstGeom prst="roundRect">
            <a:avLst>
              <a:gd name="adj" fmla="val 11524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No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Keep base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Module 35"/>
          <p:cNvSpPr/>
          <p:nvPr/>
        </p:nvSpPr>
        <p:spPr>
          <a:xfrm>
            <a:off x="5699095" y="988614"/>
            <a:ext cx="460665" cy="234605"/>
          </a:xfrm>
          <a:prstGeom prst="roundRect">
            <a:avLst>
              <a:gd name="adj" fmla="val 11524"/>
            </a:avLst>
          </a:prstGeom>
          <a:solidFill>
            <a:srgbClr val="FFF2CC"/>
          </a:solidFill>
          <a:ln w="4572" cap="flat">
            <a:solidFill>
              <a:srgbClr val="BF9000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Yes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Choose path</a:t>
            </a:r>
            <a:endParaRPr lang="en-US" sz="7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Module 36"/>
          <p:cNvSpPr/>
          <p:nvPr/>
        </p:nvSpPr>
        <p:spPr>
          <a:xfrm>
            <a:off x="5313509" y="1594466"/>
            <a:ext cx="675297" cy="131102"/>
          </a:xfrm>
          <a:prstGeom prst="roundRect">
            <a:avLst>
              <a:gd name="adj" fmla="val 17687"/>
            </a:avLst>
          </a:prstGeom>
          <a:solidFill>
            <a:srgbClr val="DEEBF7"/>
          </a:solidFill>
          <a:ln w="4572" cap="flat">
            <a:solidFill>
              <a:srgbClr val="2E75B6"/>
            </a:solidFill>
            <a:miter lim="800000"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7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One final ranking</a:t>
            </a:r>
            <a:endParaRPr lang="en-US" sz="73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7" name="Panel 37"/>
          <p:cNvPicPr/>
          <p:nvPr/>
        </p:nvPicPr>
        <p:blipFill>
          <a:blip r:embed="rId4"/>
          <a:stretch>
            <a:fillRect/>
          </a:stretch>
        </p:blipFill>
        <p:spPr>
          <a:xfrm>
            <a:off x="5370360" y="2045462"/>
            <a:ext cx="561588" cy="596900"/>
          </a:xfrm>
          <a:prstGeom prst="rect">
            <a:avLst/>
          </a:prstGeom>
          <a:ln w="2413">
            <a:solidFill>
              <a:srgbClr val="000000"/>
            </a:solidFill>
          </a:ln>
        </p:spPr>
      </p:pic>
      <p:sp>
        <p:nvSpPr>
          <p:cNvPr id="38" name="Caption 38"/>
          <p:cNvSpPr txBox="1"/>
          <p:nvPr/>
        </p:nvSpPr>
        <p:spPr>
          <a:xfrm>
            <a:off x="5370360" y="2680462"/>
            <a:ext cx="561588" cy="9525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Recovered target</a:t>
            </a:r>
            <a:endParaRPr lang="en-US" sz="65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Badge 39"/>
          <p:cNvSpPr txBox="1"/>
          <p:nvPr/>
        </p:nvSpPr>
        <p:spPr>
          <a:xfrm>
            <a:off x="5627148" y="1950212"/>
            <a:ext cx="304800" cy="1143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6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23 → 4</a:t>
            </a:r>
            <a:endParaRPr lang="en-US" sz="6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Flow 40"/>
          <p:cNvSpPr/>
          <p:nvPr/>
        </p:nvSpPr>
        <p:spPr>
          <a:xfrm>
            <a:off x="1728375" y="463550"/>
            <a:ext cx="1270" cy="873709"/>
          </a:xfrm>
          <a:custGeom>
            <a:avLst/>
            <a:gdLst/>
            <a:ahLst/>
            <a:cxnLst/>
            <a:rect l="0" t="0" r="r" b="b"/>
            <a:pathLst>
              <a:path w="127" h="873709" fill="none">
                <a:moveTo>
                  <a:pt x="0" y="0"/>
                </a:moveTo>
                <a:lnTo>
                  <a:pt x="0" y="873709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1" name="Flow 41"/>
          <p:cNvSpPr/>
          <p:nvPr/>
        </p:nvSpPr>
        <p:spPr>
          <a:xfrm>
            <a:off x="1425908" y="1032459"/>
            <a:ext cx="302467" cy="304800"/>
          </a:xfrm>
          <a:custGeom>
            <a:avLst/>
            <a:gdLst/>
            <a:ahLst/>
            <a:cxnLst/>
            <a:rect l="0" t="0" r="r" b="b"/>
            <a:pathLst>
              <a:path w="302467" h="304800" fill="none">
                <a:moveTo>
                  <a:pt x="0" y="0"/>
                </a:moveTo>
                <a:lnTo>
                  <a:pt x="0" y="88900"/>
                </a:lnTo>
                <a:lnTo>
                  <a:pt x="302467" y="88900"/>
                </a:lnTo>
                <a:lnTo>
                  <a:pt x="302467" y="30480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2" name="Flow 42"/>
          <p:cNvSpPr/>
          <p:nvPr/>
        </p:nvSpPr>
        <p:spPr>
          <a:xfrm>
            <a:off x="1728375" y="1032459"/>
            <a:ext cx="298211" cy="304800"/>
          </a:xfrm>
          <a:custGeom>
            <a:avLst/>
            <a:gdLst/>
            <a:ahLst/>
            <a:cxnLst/>
            <a:rect l="0" t="0" r="r" b="b"/>
            <a:pathLst>
              <a:path w="298211" h="304800" fill="none">
                <a:moveTo>
                  <a:pt x="298211" y="0"/>
                </a:moveTo>
                <a:lnTo>
                  <a:pt x="298211" y="88900"/>
                </a:lnTo>
                <a:lnTo>
                  <a:pt x="0" y="88900"/>
                </a:lnTo>
                <a:lnTo>
                  <a:pt x="0" y="304800"/>
                </a:lnTo>
              </a:path>
            </a:pathLst>
          </a:custGeom>
          <a:noFill/>
          <a:ln w="4572" cap="flat">
            <a:solidFill>
              <a:srgbClr val="C55A11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3" name="Flow 43"/>
          <p:cNvSpPr/>
          <p:nvPr/>
        </p:nvSpPr>
        <p:spPr>
          <a:xfrm>
            <a:off x="1728370" y="1522679"/>
            <a:ext cx="1270" cy="292100"/>
          </a:xfrm>
          <a:custGeom>
            <a:avLst/>
            <a:gdLst/>
            <a:ahLst/>
            <a:cxnLst/>
            <a:rect l="0" t="0" r="r" b="b"/>
            <a:pathLst>
              <a:path w="127" h="292100" fill="none">
                <a:moveTo>
                  <a:pt x="4" y="0"/>
                </a:moveTo>
                <a:lnTo>
                  <a:pt x="0" y="292100"/>
                </a:lnTo>
              </a:path>
            </a:pathLst>
          </a:custGeom>
          <a:noFill/>
          <a:ln w="10160" cap="flat">
            <a:solidFill>
              <a:srgbClr val="C55A11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5" name="Flow 45"/>
          <p:cNvSpPr/>
          <p:nvPr/>
        </p:nvSpPr>
        <p:spPr>
          <a:xfrm>
            <a:off x="3104131" y="1249680"/>
            <a:ext cx="1270" cy="304800"/>
          </a:xfrm>
          <a:custGeom>
            <a:avLst/>
            <a:gdLst/>
            <a:ahLst/>
            <a:cxnLst/>
            <a:rect l="0" t="0" r="r" b="b"/>
            <a:pathLst>
              <a:path w="127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4572" cap="flat">
            <a:solidFill>
              <a:srgbClr val="C55A11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7" name="Flow 47"/>
          <p:cNvSpPr/>
          <p:nvPr/>
        </p:nvSpPr>
        <p:spPr>
          <a:xfrm>
            <a:off x="4207510" y="499110"/>
            <a:ext cx="203200" cy="269240"/>
          </a:xfrm>
          <a:custGeom>
            <a:avLst/>
            <a:gdLst/>
            <a:ahLst/>
            <a:cxnLst/>
            <a:rect l="0" t="0" r="r" b="b"/>
            <a:pathLst>
              <a:path w="203175" h="304800" fill="none">
                <a:moveTo>
                  <a:pt x="203175" y="0"/>
                </a:moveTo>
                <a:lnTo>
                  <a:pt x="203175" y="152400"/>
                </a:lnTo>
                <a:lnTo>
                  <a:pt x="0" y="152400"/>
                </a:lnTo>
                <a:lnTo>
                  <a:pt x="0" y="3048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8" name="Flow 48"/>
          <p:cNvSpPr/>
          <p:nvPr/>
        </p:nvSpPr>
        <p:spPr>
          <a:xfrm>
            <a:off x="4410710" y="574675"/>
            <a:ext cx="328295" cy="193675"/>
          </a:xfrm>
          <a:custGeom>
            <a:avLst/>
            <a:gdLst/>
            <a:ahLst/>
            <a:cxnLst/>
            <a:rect l="0" t="0" r="r" b="b"/>
            <a:pathLst>
              <a:path w="328104" h="304800" fill="none">
                <a:moveTo>
                  <a:pt x="0" y="0"/>
                </a:moveTo>
                <a:lnTo>
                  <a:pt x="0" y="88900"/>
                </a:lnTo>
                <a:lnTo>
                  <a:pt x="328104" y="88900"/>
                </a:lnTo>
                <a:lnTo>
                  <a:pt x="328104" y="3048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49" name="Flow 49"/>
          <p:cNvSpPr/>
          <p:nvPr/>
        </p:nvSpPr>
        <p:spPr>
          <a:xfrm>
            <a:off x="4207320" y="1054862"/>
            <a:ext cx="203175" cy="317500"/>
          </a:xfrm>
          <a:custGeom>
            <a:avLst/>
            <a:gdLst/>
            <a:ahLst/>
            <a:cxnLst/>
            <a:rect l="0" t="0" r="r" b="b"/>
            <a:pathLst>
              <a:path w="203175" h="317500" fill="none">
                <a:moveTo>
                  <a:pt x="0" y="0"/>
                </a:moveTo>
                <a:lnTo>
                  <a:pt x="0" y="88900"/>
                </a:lnTo>
                <a:lnTo>
                  <a:pt x="203175" y="88900"/>
                </a:lnTo>
                <a:lnTo>
                  <a:pt x="203175" y="3175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0" name="Flow 50"/>
          <p:cNvSpPr/>
          <p:nvPr/>
        </p:nvSpPr>
        <p:spPr>
          <a:xfrm>
            <a:off x="4410494" y="1054862"/>
            <a:ext cx="328104" cy="317500"/>
          </a:xfrm>
          <a:custGeom>
            <a:avLst/>
            <a:gdLst/>
            <a:ahLst/>
            <a:cxnLst/>
            <a:rect l="0" t="0" r="r" b="b"/>
            <a:pathLst>
              <a:path w="328104" h="317500" fill="none">
                <a:moveTo>
                  <a:pt x="328104" y="0"/>
                </a:moveTo>
                <a:lnTo>
                  <a:pt x="328104" y="88900"/>
                </a:lnTo>
                <a:lnTo>
                  <a:pt x="0" y="88900"/>
                </a:lnTo>
                <a:lnTo>
                  <a:pt x="0" y="3175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1" name="Flow 51"/>
          <p:cNvSpPr/>
          <p:nvPr/>
        </p:nvSpPr>
        <p:spPr>
          <a:xfrm>
            <a:off x="4410494" y="1557782"/>
            <a:ext cx="1270" cy="292100"/>
          </a:xfrm>
          <a:custGeom>
            <a:avLst/>
            <a:gdLst/>
            <a:ahLst/>
            <a:cxnLst/>
            <a:rect l="0" t="0" r="r" b="b"/>
            <a:pathLst>
              <a:path w="127" h="292100" fill="none">
                <a:moveTo>
                  <a:pt x="0" y="0"/>
                </a:moveTo>
                <a:lnTo>
                  <a:pt x="0" y="2921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2" name="Flow 52"/>
          <p:cNvSpPr/>
          <p:nvPr/>
        </p:nvSpPr>
        <p:spPr>
          <a:xfrm>
            <a:off x="4973523" y="467360"/>
            <a:ext cx="220434" cy="687451"/>
          </a:xfrm>
          <a:custGeom>
            <a:avLst/>
            <a:gdLst/>
            <a:ahLst/>
            <a:cxnLst/>
            <a:rect l="0" t="0" r="r" b="b"/>
            <a:pathLst>
              <a:path w="220434" h="687451" fill="none">
                <a:moveTo>
                  <a:pt x="0" y="687451"/>
                </a:moveTo>
                <a:lnTo>
                  <a:pt x="63500" y="687451"/>
                </a:lnTo>
                <a:lnTo>
                  <a:pt x="63500" y="0"/>
                </a:lnTo>
                <a:lnTo>
                  <a:pt x="220434" y="0"/>
                </a:lnTo>
              </a:path>
            </a:pathLst>
          </a:custGeom>
          <a:noFill/>
          <a:ln w="10160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3" name="Flow 53"/>
          <p:cNvSpPr/>
          <p:nvPr/>
        </p:nvSpPr>
        <p:spPr>
          <a:xfrm>
            <a:off x="5341074" y="657860"/>
            <a:ext cx="310083" cy="304800"/>
          </a:xfrm>
          <a:custGeom>
            <a:avLst/>
            <a:gdLst/>
            <a:ahLst/>
            <a:cxnLst/>
            <a:rect l="0" t="0" r="r" b="b"/>
            <a:pathLst>
              <a:path w="310083" h="304800" fill="none">
                <a:moveTo>
                  <a:pt x="310083" y="0"/>
                </a:moveTo>
                <a:lnTo>
                  <a:pt x="310083" y="88900"/>
                </a:lnTo>
                <a:lnTo>
                  <a:pt x="0" y="88900"/>
                </a:lnTo>
                <a:lnTo>
                  <a:pt x="0" y="30480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4" name="Flow 54"/>
          <p:cNvSpPr/>
          <p:nvPr/>
        </p:nvSpPr>
        <p:spPr>
          <a:xfrm>
            <a:off x="5651157" y="657860"/>
            <a:ext cx="278270" cy="304800"/>
          </a:xfrm>
          <a:custGeom>
            <a:avLst/>
            <a:gdLst/>
            <a:ahLst/>
            <a:cxnLst/>
            <a:rect l="0" t="0" r="r" b="b"/>
            <a:pathLst>
              <a:path w="278270" h="304800" fill="none">
                <a:moveTo>
                  <a:pt x="0" y="0"/>
                </a:moveTo>
                <a:lnTo>
                  <a:pt x="0" y="88900"/>
                </a:lnTo>
                <a:lnTo>
                  <a:pt x="278270" y="88900"/>
                </a:lnTo>
                <a:lnTo>
                  <a:pt x="278270" y="304800"/>
                </a:lnTo>
              </a:path>
            </a:pathLst>
          </a:custGeom>
          <a:noFill/>
          <a:ln w="4572" cap="flat">
            <a:solidFill>
              <a:srgbClr val="C55A11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5" name="Flow 55"/>
          <p:cNvSpPr/>
          <p:nvPr/>
        </p:nvSpPr>
        <p:spPr>
          <a:xfrm>
            <a:off x="5341074" y="1249172"/>
            <a:ext cx="310083" cy="317500"/>
          </a:xfrm>
          <a:custGeom>
            <a:avLst/>
            <a:gdLst/>
            <a:ahLst/>
            <a:cxnLst/>
            <a:rect l="0" t="0" r="r" b="b"/>
            <a:pathLst>
              <a:path w="310083" h="317500" fill="none">
                <a:moveTo>
                  <a:pt x="0" y="0"/>
                </a:moveTo>
                <a:lnTo>
                  <a:pt x="0" y="88900"/>
                </a:lnTo>
                <a:lnTo>
                  <a:pt x="310083" y="88900"/>
                </a:lnTo>
                <a:lnTo>
                  <a:pt x="310083" y="31750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6" name="Flow 56"/>
          <p:cNvSpPr/>
          <p:nvPr/>
        </p:nvSpPr>
        <p:spPr>
          <a:xfrm>
            <a:off x="5651157" y="1249172"/>
            <a:ext cx="278270" cy="317500"/>
          </a:xfrm>
          <a:custGeom>
            <a:avLst/>
            <a:gdLst/>
            <a:ahLst/>
            <a:cxnLst/>
            <a:rect l="0" t="0" r="r" b="b"/>
            <a:pathLst>
              <a:path w="278270" h="317500" fill="none">
                <a:moveTo>
                  <a:pt x="278270" y="0"/>
                </a:moveTo>
                <a:lnTo>
                  <a:pt x="278270" y="88900"/>
                </a:lnTo>
                <a:lnTo>
                  <a:pt x="0" y="88900"/>
                </a:lnTo>
                <a:lnTo>
                  <a:pt x="0" y="317500"/>
                </a:lnTo>
              </a:path>
            </a:pathLst>
          </a:custGeom>
          <a:noFill/>
          <a:ln w="4572" cap="flat">
            <a:solidFill>
              <a:srgbClr val="C55A11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7" name="Flow 57"/>
          <p:cNvSpPr/>
          <p:nvPr/>
        </p:nvSpPr>
        <p:spPr>
          <a:xfrm>
            <a:off x="5651154" y="1753362"/>
            <a:ext cx="1270" cy="292100"/>
          </a:xfrm>
          <a:custGeom>
            <a:avLst/>
            <a:gdLst/>
            <a:ahLst/>
            <a:cxnLst/>
            <a:rect l="0" t="0" r="r" b="b"/>
            <a:pathLst>
              <a:path w="127" h="292100" fill="none">
                <a:moveTo>
                  <a:pt x="3" y="0"/>
                </a:moveTo>
                <a:lnTo>
                  <a:pt x="0" y="292100"/>
                </a:lnTo>
              </a:path>
            </a:pathLst>
          </a:custGeom>
          <a:noFill/>
          <a:ln w="10160" cap="flat">
            <a:solidFill>
              <a:srgbClr val="548235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  <p:sp>
        <p:nvSpPr>
          <p:cNvPr id="58" name="Flow 52"/>
          <p:cNvSpPr/>
          <p:nvPr/>
        </p:nvSpPr>
        <p:spPr>
          <a:xfrm>
            <a:off x="3787140" y="370840"/>
            <a:ext cx="144780" cy="1382395"/>
          </a:xfrm>
          <a:custGeom>
            <a:avLst/>
            <a:gdLst/>
            <a:ahLst/>
            <a:cxnLst/>
            <a:rect l="0" t="0" r="r" b="b"/>
            <a:pathLst>
              <a:path w="220434" h="687451" fill="none">
                <a:moveTo>
                  <a:pt x="0" y="687451"/>
                </a:moveTo>
                <a:lnTo>
                  <a:pt x="63500" y="687451"/>
                </a:lnTo>
                <a:lnTo>
                  <a:pt x="63500" y="0"/>
                </a:lnTo>
                <a:lnTo>
                  <a:pt x="220434" y="0"/>
                </a:lnTo>
              </a:path>
            </a:pathLst>
          </a:custGeom>
          <a:noFill/>
          <a:ln w="10160" cap="flat">
            <a:solidFill>
              <a:srgbClr val="BF9000"/>
            </a:solidFill>
            <a:miter lim="800000"/>
            <a:tailEnd type="triangle" w="med" len="med"/>
          </a:ln>
        </p:spPr>
        <p:txBody>
          <a:bodyPr wrap="none" lIns="0" tIns="0" rIns="0" bIns="0" rtlCol="0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WPS Docs</Application>
  <PresentationFormat/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宋体-简</vt:lpstr>
      <vt:lpstr>Microsoft YaHei</vt:lpstr>
      <vt:lpstr>汉仪旗黑</vt:lpstr>
      <vt:lpstr>Arial Unicode MS</vt:lpstr>
      <vt:lpstr>Calibri</vt:lpstr>
      <vt:lpstr>Helvetica Neue</vt:lpstr>
      <vt:lpstr>Times New Roman</vt:lpstr>
      <vt:lpstr>CVPR-Figure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Zhao Liu</cp:lastModifiedBy>
  <cp:revision>1</cp:revision>
  <dcterms:created xsi:type="dcterms:W3CDTF">2026-09-14T00:55:10Z</dcterms:created>
  <dcterms:modified xsi:type="dcterms:W3CDTF">2026-09-14T00:55:10Z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9CA7A8907B7D8459EE45A76A7D76F6D4_42</vt:lpwstr>
  </property>
</Properties>
</file>