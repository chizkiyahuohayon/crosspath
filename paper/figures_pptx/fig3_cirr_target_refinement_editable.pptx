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309360" cy="2287270"/>
  <p:notesSz cx="2287270" cy="63093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100" y="213360"/>
            <a:ext cx="787542" cy="2001926"/>
          </a:xfrm>
          <a:prstGeom prst="roundRect">
            <a:avLst>
              <a:gd name="adj" fmla="val 4192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100" y="63500"/>
            <a:ext cx="787542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CIRR query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anel 4"/>
          <p:cNvPicPr/>
          <p:nvPr/>
        </p:nvPicPr>
        <p:blipFill>
          <a:blip r:embed="rId1"/>
          <a:stretch>
            <a:fillRect/>
          </a:stretch>
        </p:blipFill>
        <p:spPr>
          <a:xfrm>
            <a:off x="153391" y="251460"/>
            <a:ext cx="556965" cy="4572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153391" y="746760"/>
            <a:ext cx="556965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Reference image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Module 6"/>
          <p:cNvSpPr/>
          <p:nvPr/>
        </p:nvSpPr>
        <p:spPr>
          <a:xfrm>
            <a:off x="76200" y="1121410"/>
            <a:ext cx="711342" cy="292506"/>
          </a:xfrm>
          <a:prstGeom prst="roundRect">
            <a:avLst>
              <a:gd name="adj" fmla="val 11288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Bigger dog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Closer to camera</a:t>
            </a:r>
            <a:endParaRPr lang="en-US" sz="6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SlabTop 7"/>
          <p:cNvSpPr/>
          <p:nvPr/>
        </p:nvSpPr>
        <p:spPr>
          <a:xfrm>
            <a:off x="155575" y="1718716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" name="SlabSide 8"/>
          <p:cNvSpPr/>
          <p:nvPr/>
        </p:nvSpPr>
        <p:spPr>
          <a:xfrm>
            <a:off x="231775" y="1718716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9" name="SlabFace 9"/>
          <p:cNvSpPr/>
          <p:nvPr/>
        </p:nvSpPr>
        <p:spPr>
          <a:xfrm>
            <a:off x="155575" y="1764436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0" name="SlabTop 10"/>
          <p:cNvSpPr/>
          <p:nvPr/>
        </p:nvSpPr>
        <p:spPr>
          <a:xfrm>
            <a:off x="269875" y="1718716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1" name="SlabSide 11"/>
          <p:cNvSpPr/>
          <p:nvPr/>
        </p:nvSpPr>
        <p:spPr>
          <a:xfrm>
            <a:off x="346075" y="1718716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2" name="SlabFace 12"/>
          <p:cNvSpPr/>
          <p:nvPr/>
        </p:nvSpPr>
        <p:spPr>
          <a:xfrm>
            <a:off x="269875" y="1764436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3" name="SlabTop 13"/>
          <p:cNvSpPr/>
          <p:nvPr/>
        </p:nvSpPr>
        <p:spPr>
          <a:xfrm>
            <a:off x="384175" y="1718716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4" name="SlabSide 14"/>
          <p:cNvSpPr/>
          <p:nvPr/>
        </p:nvSpPr>
        <p:spPr>
          <a:xfrm>
            <a:off x="460375" y="1718716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5" name="SlabFace 15"/>
          <p:cNvSpPr/>
          <p:nvPr/>
        </p:nvSpPr>
        <p:spPr>
          <a:xfrm>
            <a:off x="384175" y="1764436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6" name="SlabTop 16"/>
          <p:cNvSpPr/>
          <p:nvPr/>
        </p:nvSpPr>
        <p:spPr>
          <a:xfrm>
            <a:off x="498475" y="1718716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7" name="SlabSide 17"/>
          <p:cNvSpPr/>
          <p:nvPr/>
        </p:nvSpPr>
        <p:spPr>
          <a:xfrm>
            <a:off x="574675" y="1718716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8" name="SlabFace 18"/>
          <p:cNvSpPr/>
          <p:nvPr/>
        </p:nvSpPr>
        <p:spPr>
          <a:xfrm>
            <a:off x="498475" y="1764436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9" name="Caption 19"/>
          <p:cNvSpPr txBox="1"/>
          <p:nvPr/>
        </p:nvSpPr>
        <p:spPr>
          <a:xfrm>
            <a:off x="155575" y="2094636"/>
            <a:ext cx="55259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Strong query  q₁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Stage 20"/>
          <p:cNvSpPr/>
          <p:nvPr/>
        </p:nvSpPr>
        <p:spPr>
          <a:xfrm>
            <a:off x="939114" y="251460"/>
            <a:ext cx="1362314" cy="1408481"/>
          </a:xfrm>
          <a:prstGeom prst="roundRect">
            <a:avLst>
              <a:gd name="adj" fmla="val 2423"/>
            </a:avLst>
          </a:prstGeom>
          <a:solidFill>
            <a:srgbClr val="FDF2E9"/>
          </a:solidFill>
          <a:ln w="4572" cap="flat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1" name="StageTitle 21"/>
          <p:cNvSpPr txBox="1"/>
          <p:nvPr/>
        </p:nvSpPr>
        <p:spPr>
          <a:xfrm>
            <a:off x="939114" y="63500"/>
            <a:ext cx="1362314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Conservative fusion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Module 22"/>
          <p:cNvSpPr/>
          <p:nvPr/>
        </p:nvSpPr>
        <p:spPr>
          <a:xfrm>
            <a:off x="1038492" y="296134"/>
            <a:ext cx="536179" cy="209154"/>
          </a:xfrm>
          <a:prstGeom prst="roundRect">
            <a:avLst>
              <a:gd name="adj" fmla="val 11061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Strong endpoint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64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11</a:t>
            </a:r>
            <a:endParaRPr lang="en-US" sz="64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Module 23"/>
          <p:cNvSpPr/>
          <p:nvPr/>
        </p:nvSpPr>
        <p:spPr>
          <a:xfrm>
            <a:off x="1786890" y="299085"/>
            <a:ext cx="436880" cy="209550"/>
          </a:xfrm>
          <a:prstGeom prst="roundRect">
            <a:avLst>
              <a:gd name="adj" fmla="val 11061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Cross path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64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endParaRPr lang="en-US" sz="64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Module 24"/>
          <p:cNvSpPr/>
          <p:nvPr/>
        </p:nvSpPr>
        <p:spPr>
          <a:xfrm>
            <a:off x="1138339" y="880161"/>
            <a:ext cx="324458" cy="186690"/>
          </a:xfrm>
          <a:prstGeom prst="roundRect">
            <a:avLst>
              <a:gd name="adj" fmla="val 17687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75%</a:t>
            </a:r>
            <a:endParaRPr lang="en-US" sz="6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val 25"/>
          <p:cNvSpPr/>
          <p:nvPr/>
        </p:nvSpPr>
        <p:spPr>
          <a:xfrm>
            <a:off x="1599959" y="887146"/>
            <a:ext cx="165100" cy="165100"/>
          </a:xfrm>
          <a:prstGeom prst="ellipse">
            <a:avLst/>
          </a:prstGeom>
          <a:solidFill>
            <a:srgbClr val="FFFFFF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6" name="OpBar 26"/>
          <p:cNvSpPr/>
          <p:nvPr/>
        </p:nvSpPr>
        <p:spPr>
          <a:xfrm>
            <a:off x="1636281" y="969696"/>
            <a:ext cx="92456" cy="1270"/>
          </a:xfrm>
          <a:custGeom>
            <a:avLst/>
            <a:gdLst/>
            <a:ahLst/>
            <a:cxnLst/>
            <a:rect l="0" t="0" r="r" b="b"/>
            <a:pathLst>
              <a:path w="92456" h="127" fill="none">
                <a:moveTo>
                  <a:pt x="0" y="0"/>
                </a:moveTo>
                <a:lnTo>
                  <a:pt x="92456" y="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7" name="OpBar 27"/>
          <p:cNvSpPr/>
          <p:nvPr/>
        </p:nvSpPr>
        <p:spPr>
          <a:xfrm>
            <a:off x="1682509" y="923468"/>
            <a:ext cx="1270" cy="92456"/>
          </a:xfrm>
          <a:custGeom>
            <a:avLst/>
            <a:gdLst/>
            <a:ahLst/>
            <a:cxnLst/>
            <a:rect l="0" t="0" r="r" b="b"/>
            <a:pathLst>
              <a:path w="127" h="92456" fill="none">
                <a:moveTo>
                  <a:pt x="0" y="0"/>
                </a:moveTo>
                <a:lnTo>
                  <a:pt x="0" y="92456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8" name="Module 28"/>
          <p:cNvSpPr/>
          <p:nvPr/>
        </p:nvSpPr>
        <p:spPr>
          <a:xfrm>
            <a:off x="1856499" y="880161"/>
            <a:ext cx="324458" cy="186690"/>
          </a:xfrm>
          <a:prstGeom prst="roundRect">
            <a:avLst>
              <a:gd name="adj" fmla="val 17687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25%</a:t>
            </a:r>
            <a:endParaRPr lang="en-US" sz="6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Module 29"/>
          <p:cNvSpPr/>
          <p:nvPr/>
        </p:nvSpPr>
        <p:spPr>
          <a:xfrm>
            <a:off x="1311198" y="1421035"/>
            <a:ext cx="742607" cy="131102"/>
          </a:xfrm>
          <a:prstGeom prst="roundRect">
            <a:avLst>
              <a:gd name="adj" fmla="val 17687"/>
            </a:avLst>
          </a:prstGeom>
          <a:solidFill>
            <a:srgbClr val="FFD966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Fused gallery score</a:t>
            </a:r>
            <a:endParaRPr lang="en-US" sz="7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Stage 30"/>
          <p:cNvSpPr/>
          <p:nvPr/>
        </p:nvSpPr>
        <p:spPr>
          <a:xfrm>
            <a:off x="2372360" y="213360"/>
            <a:ext cx="1054100" cy="1774190"/>
          </a:xfrm>
          <a:prstGeom prst="roundRect">
            <a:avLst>
              <a:gd name="adj" fmla="val 3333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1" name="StageTitle 31"/>
          <p:cNvSpPr txBox="1"/>
          <p:nvPr/>
        </p:nvSpPr>
        <p:spPr>
          <a:xfrm>
            <a:off x="2414905" y="63500"/>
            <a:ext cx="99060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Top-50 candidates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2" name="Panel 32"/>
          <p:cNvPicPr/>
          <p:nvPr/>
        </p:nvPicPr>
        <p:blipFill>
          <a:blip r:embed="rId2"/>
          <a:stretch>
            <a:fillRect/>
          </a:stretch>
        </p:blipFill>
        <p:spPr>
          <a:xfrm>
            <a:off x="2453005" y="251460"/>
            <a:ext cx="342900" cy="4064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33" name="Caption 33"/>
          <p:cNvSpPr txBox="1"/>
          <p:nvPr/>
        </p:nvSpPr>
        <p:spPr>
          <a:xfrm>
            <a:off x="2453005" y="695960"/>
            <a:ext cx="34290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Candidate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4" name="Panel 34"/>
          <p:cNvPicPr/>
          <p:nvPr/>
        </p:nvPicPr>
        <p:blipFill>
          <a:blip r:embed="rId3"/>
          <a:stretch>
            <a:fillRect/>
          </a:stretch>
        </p:blipFill>
        <p:spPr>
          <a:xfrm>
            <a:off x="2846705" y="251460"/>
            <a:ext cx="342900" cy="4064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35" name="Caption 35"/>
          <p:cNvSpPr txBox="1"/>
          <p:nvPr/>
        </p:nvSpPr>
        <p:spPr>
          <a:xfrm>
            <a:off x="2846705" y="695960"/>
            <a:ext cx="34290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Candidate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Label 36"/>
          <p:cNvSpPr txBox="1"/>
          <p:nvPr/>
        </p:nvSpPr>
        <p:spPr>
          <a:xfrm>
            <a:off x="3240405" y="451485"/>
            <a:ext cx="127000" cy="1270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…</a:t>
            </a:r>
            <a:endParaRPr lang="en-US" sz="1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SlabTop 37"/>
          <p:cNvSpPr/>
          <p:nvPr/>
        </p:nvSpPr>
        <p:spPr>
          <a:xfrm>
            <a:off x="24814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8" name="SlabSide 38"/>
          <p:cNvSpPr/>
          <p:nvPr/>
        </p:nvSpPr>
        <p:spPr>
          <a:xfrm>
            <a:off x="25449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9" name="SlabFace 39"/>
          <p:cNvSpPr/>
          <p:nvPr/>
        </p:nvSpPr>
        <p:spPr>
          <a:xfrm>
            <a:off x="24814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0" name="SlabTop 40"/>
          <p:cNvSpPr/>
          <p:nvPr/>
        </p:nvSpPr>
        <p:spPr>
          <a:xfrm>
            <a:off x="25830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1" name="SlabSide 41"/>
          <p:cNvSpPr/>
          <p:nvPr/>
        </p:nvSpPr>
        <p:spPr>
          <a:xfrm>
            <a:off x="26465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2" name="SlabFace 42"/>
          <p:cNvSpPr/>
          <p:nvPr/>
        </p:nvSpPr>
        <p:spPr>
          <a:xfrm>
            <a:off x="25830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3" name="SlabTop 43"/>
          <p:cNvSpPr/>
          <p:nvPr/>
        </p:nvSpPr>
        <p:spPr>
          <a:xfrm>
            <a:off x="26846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4" name="SlabSide 44"/>
          <p:cNvSpPr/>
          <p:nvPr/>
        </p:nvSpPr>
        <p:spPr>
          <a:xfrm>
            <a:off x="27481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5" name="SlabFace 45"/>
          <p:cNvSpPr/>
          <p:nvPr/>
        </p:nvSpPr>
        <p:spPr>
          <a:xfrm>
            <a:off x="26846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6" name="SlabTop 46"/>
          <p:cNvSpPr/>
          <p:nvPr/>
        </p:nvSpPr>
        <p:spPr>
          <a:xfrm>
            <a:off x="27862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7" name="SlabSide 47"/>
          <p:cNvSpPr/>
          <p:nvPr/>
        </p:nvSpPr>
        <p:spPr>
          <a:xfrm>
            <a:off x="28497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8" name="SlabFace 48"/>
          <p:cNvSpPr/>
          <p:nvPr/>
        </p:nvSpPr>
        <p:spPr>
          <a:xfrm>
            <a:off x="27862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9" name="SlabTop 49"/>
          <p:cNvSpPr/>
          <p:nvPr/>
        </p:nvSpPr>
        <p:spPr>
          <a:xfrm>
            <a:off x="28878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0" name="SlabSide 50"/>
          <p:cNvSpPr/>
          <p:nvPr/>
        </p:nvSpPr>
        <p:spPr>
          <a:xfrm>
            <a:off x="29513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1" name="SlabFace 51"/>
          <p:cNvSpPr/>
          <p:nvPr/>
        </p:nvSpPr>
        <p:spPr>
          <a:xfrm>
            <a:off x="28878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2" name="SlabTop 52"/>
          <p:cNvSpPr/>
          <p:nvPr/>
        </p:nvSpPr>
        <p:spPr>
          <a:xfrm>
            <a:off x="29894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3" name="SlabSide 53"/>
          <p:cNvSpPr/>
          <p:nvPr/>
        </p:nvSpPr>
        <p:spPr>
          <a:xfrm>
            <a:off x="30529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4" name="SlabFace 54"/>
          <p:cNvSpPr/>
          <p:nvPr/>
        </p:nvSpPr>
        <p:spPr>
          <a:xfrm>
            <a:off x="29894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5" name="SlabTop 55"/>
          <p:cNvSpPr/>
          <p:nvPr/>
        </p:nvSpPr>
        <p:spPr>
          <a:xfrm>
            <a:off x="30910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6" name="SlabSide 56"/>
          <p:cNvSpPr/>
          <p:nvPr/>
        </p:nvSpPr>
        <p:spPr>
          <a:xfrm>
            <a:off x="31545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7" name="SlabFace 57"/>
          <p:cNvSpPr/>
          <p:nvPr/>
        </p:nvSpPr>
        <p:spPr>
          <a:xfrm>
            <a:off x="30910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8" name="SlabTop 58"/>
          <p:cNvSpPr/>
          <p:nvPr/>
        </p:nvSpPr>
        <p:spPr>
          <a:xfrm>
            <a:off x="3192678" y="1096010"/>
            <a:ext cx="109220" cy="45720"/>
          </a:xfrm>
          <a:custGeom>
            <a:avLst/>
            <a:gdLst/>
            <a:ahLst/>
            <a:cxnLst/>
            <a:rect l="0" t="0" r="r" b="b"/>
            <a:pathLst>
              <a:path w="109220" h="45720">
                <a:moveTo>
                  <a:pt x="0" y="45720"/>
                </a:moveTo>
                <a:lnTo>
                  <a:pt x="45720" y="0"/>
                </a:lnTo>
                <a:lnTo>
                  <a:pt x="109220" y="0"/>
                </a:lnTo>
                <a:lnTo>
                  <a:pt x="635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9" name="SlabSide 59"/>
          <p:cNvSpPr/>
          <p:nvPr/>
        </p:nvSpPr>
        <p:spPr>
          <a:xfrm>
            <a:off x="3256178" y="109601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0" name="SlabFace 60"/>
          <p:cNvSpPr/>
          <p:nvPr/>
        </p:nvSpPr>
        <p:spPr>
          <a:xfrm>
            <a:off x="3192678" y="1141730"/>
            <a:ext cx="63500" cy="3048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1" name="Caption 61"/>
          <p:cNvSpPr txBox="1"/>
          <p:nvPr/>
        </p:nvSpPr>
        <p:spPr>
          <a:xfrm>
            <a:off x="2481478" y="1484630"/>
            <a:ext cx="857447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8 region tokens per image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2" name="Label 62"/>
          <p:cNvSpPr txBox="1"/>
          <p:nvPr/>
        </p:nvSpPr>
        <p:spPr>
          <a:xfrm>
            <a:off x="2393627" y="1856423"/>
            <a:ext cx="1033145" cy="10858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1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Segment features stay frozen</a:t>
            </a:r>
            <a:endParaRPr lang="en-US" sz="71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3" name="Stage 63"/>
          <p:cNvSpPr/>
          <p:nvPr/>
        </p:nvSpPr>
        <p:spPr>
          <a:xfrm>
            <a:off x="3518979" y="213360"/>
            <a:ext cx="1244429" cy="2035861"/>
          </a:xfrm>
          <a:prstGeom prst="roundRect">
            <a:avLst>
              <a:gd name="adj" fmla="val 2653"/>
            </a:avLst>
          </a:prstGeom>
          <a:solidFill>
            <a:srgbClr val="FFF9E6"/>
          </a:solidFill>
          <a:ln w="4572" cap="flat">
            <a:solidFill>
              <a:srgbClr val="BF9000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4" name="StageTitle 64"/>
          <p:cNvSpPr txBox="1"/>
          <p:nvPr/>
        </p:nvSpPr>
        <p:spPr>
          <a:xfrm>
            <a:off x="3518979" y="63500"/>
            <a:ext cx="1244429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Target refinement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Module 65"/>
          <p:cNvSpPr/>
          <p:nvPr/>
        </p:nvSpPr>
        <p:spPr>
          <a:xfrm>
            <a:off x="3602050" y="251460"/>
            <a:ext cx="507390" cy="298501"/>
          </a:xfrm>
          <a:prstGeom prst="roundRect">
            <a:avLst>
              <a:gd name="adj" fmla="val 11061"/>
            </a:avLst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Region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projection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Module 66"/>
          <p:cNvSpPr/>
          <p:nvPr/>
        </p:nvSpPr>
        <p:spPr>
          <a:xfrm>
            <a:off x="4172941" y="251460"/>
            <a:ext cx="507390" cy="298501"/>
          </a:xfrm>
          <a:prstGeom prst="roundRect">
            <a:avLst>
              <a:gd name="adj" fmla="val 11061"/>
            </a:avLst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Query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projection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7" name="Module 67"/>
          <p:cNvSpPr/>
          <p:nvPr/>
        </p:nvSpPr>
        <p:spPr>
          <a:xfrm>
            <a:off x="3679190" y="881380"/>
            <a:ext cx="915035" cy="170815"/>
          </a:xfrm>
          <a:prstGeom prst="roundRect">
            <a:avLst>
              <a:gd name="adj" fmla="val 17808"/>
            </a:avLst>
          </a:prstGeom>
          <a:solidFill>
            <a:srgbClr val="9DC3E6"/>
          </a:solidFill>
          <a:ln w="4572" cap="flat">
            <a:solidFill>
              <a:srgbClr val="2E75B6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Attention over regions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SlabTop 68"/>
          <p:cNvSpPr/>
          <p:nvPr/>
        </p:nvSpPr>
        <p:spPr>
          <a:xfrm>
            <a:off x="3557079" y="1370381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9" name="SlabSide 69"/>
          <p:cNvSpPr/>
          <p:nvPr/>
        </p:nvSpPr>
        <p:spPr>
          <a:xfrm>
            <a:off x="3633279" y="1370381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0" name="SlabFace 70"/>
          <p:cNvSpPr/>
          <p:nvPr/>
        </p:nvSpPr>
        <p:spPr>
          <a:xfrm>
            <a:off x="3557079" y="1416101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1" name="SlabTop 71"/>
          <p:cNvSpPr/>
          <p:nvPr/>
        </p:nvSpPr>
        <p:spPr>
          <a:xfrm>
            <a:off x="3671379" y="1370381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2" name="SlabSide 72"/>
          <p:cNvSpPr/>
          <p:nvPr/>
        </p:nvSpPr>
        <p:spPr>
          <a:xfrm>
            <a:off x="3747579" y="1370381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3" name="SlabFace 73"/>
          <p:cNvSpPr/>
          <p:nvPr/>
        </p:nvSpPr>
        <p:spPr>
          <a:xfrm>
            <a:off x="3671379" y="1416101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4" name="SlabTop 74"/>
          <p:cNvSpPr/>
          <p:nvPr/>
        </p:nvSpPr>
        <p:spPr>
          <a:xfrm>
            <a:off x="3785679" y="1370381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5" name="SlabSide 75"/>
          <p:cNvSpPr/>
          <p:nvPr/>
        </p:nvSpPr>
        <p:spPr>
          <a:xfrm>
            <a:off x="3861879" y="1370381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6" name="SlabFace 76"/>
          <p:cNvSpPr/>
          <p:nvPr/>
        </p:nvSpPr>
        <p:spPr>
          <a:xfrm>
            <a:off x="3785679" y="1416101"/>
            <a:ext cx="76200" cy="2921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7" name="Caption 77"/>
          <p:cNvSpPr txBox="1"/>
          <p:nvPr/>
        </p:nvSpPr>
        <p:spPr>
          <a:xfrm>
            <a:off x="3522678" y="1736459"/>
            <a:ext cx="506730" cy="11493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Pooled target</a:t>
            </a:r>
            <a:endParaRPr lang="en-US" sz="7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Module 78"/>
          <p:cNvSpPr/>
          <p:nvPr/>
        </p:nvSpPr>
        <p:spPr>
          <a:xfrm>
            <a:off x="4071201" y="1450365"/>
            <a:ext cx="654101" cy="298501"/>
          </a:xfrm>
          <a:prstGeom prst="roundRect">
            <a:avLst>
              <a:gd name="adj" fmla="val 11061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Residual score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MLP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9" name="Label 79"/>
          <p:cNvSpPr txBox="1"/>
          <p:nvPr/>
        </p:nvSpPr>
        <p:spPr>
          <a:xfrm>
            <a:off x="3631924" y="2118094"/>
            <a:ext cx="1018540" cy="10858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10" i="1" dirty="0">
                <a:solidFill>
                  <a:srgbClr val="C55A11"/>
                </a:solidFill>
                <a:latin typeface="Times New Roman" panose="02020603050405020304"/>
                <a:cs typeface="Times New Roman" panose="02020603050405020304"/>
              </a:rPr>
              <a:t>1.18M trainable parameters</a:t>
            </a:r>
            <a:endParaRPr lang="en-US" sz="710" i="1" dirty="0">
              <a:solidFill>
                <a:srgbClr val="C55A1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Stage 80"/>
          <p:cNvSpPr/>
          <p:nvPr/>
        </p:nvSpPr>
        <p:spPr>
          <a:xfrm>
            <a:off x="4876876" y="213360"/>
            <a:ext cx="1394379" cy="1651000"/>
          </a:xfrm>
          <a:prstGeom prst="roundRect">
            <a:avLst>
              <a:gd name="adj" fmla="val 2368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1" name="StageTitle 81"/>
          <p:cNvSpPr txBox="1"/>
          <p:nvPr/>
        </p:nvSpPr>
        <p:spPr>
          <a:xfrm>
            <a:off x="4876876" y="63500"/>
            <a:ext cx="1394379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Refined ranking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Module 82"/>
          <p:cNvSpPr/>
          <p:nvPr/>
        </p:nvSpPr>
        <p:spPr>
          <a:xfrm>
            <a:off x="4914976" y="251460"/>
            <a:ext cx="563799" cy="187960"/>
          </a:xfrm>
          <a:prstGeom prst="roundRect">
            <a:avLst>
              <a:gd name="adj" fmla="val 17567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Fused score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Oval 83"/>
          <p:cNvSpPr/>
          <p:nvPr/>
        </p:nvSpPr>
        <p:spPr>
          <a:xfrm>
            <a:off x="5542280" y="262890"/>
            <a:ext cx="165100" cy="165100"/>
          </a:xfrm>
          <a:prstGeom prst="ellipse">
            <a:avLst/>
          </a:prstGeom>
          <a:solidFill>
            <a:srgbClr val="FFFFFF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4" name="OpBar 84"/>
          <p:cNvSpPr/>
          <p:nvPr/>
        </p:nvSpPr>
        <p:spPr>
          <a:xfrm>
            <a:off x="5578602" y="345440"/>
            <a:ext cx="92456" cy="1270"/>
          </a:xfrm>
          <a:custGeom>
            <a:avLst/>
            <a:gdLst/>
            <a:ahLst/>
            <a:cxnLst/>
            <a:rect l="0" t="0" r="r" b="b"/>
            <a:pathLst>
              <a:path w="92456" h="127" fill="none">
                <a:moveTo>
                  <a:pt x="0" y="0"/>
                </a:moveTo>
                <a:lnTo>
                  <a:pt x="92456" y="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5" name="OpBar 85"/>
          <p:cNvSpPr/>
          <p:nvPr/>
        </p:nvSpPr>
        <p:spPr>
          <a:xfrm>
            <a:off x="5624830" y="299212"/>
            <a:ext cx="1270" cy="92456"/>
          </a:xfrm>
          <a:custGeom>
            <a:avLst/>
            <a:gdLst/>
            <a:ahLst/>
            <a:cxnLst/>
            <a:rect l="0" t="0" r="r" b="b"/>
            <a:pathLst>
              <a:path w="127" h="92456" fill="none">
                <a:moveTo>
                  <a:pt x="0" y="0"/>
                </a:moveTo>
                <a:lnTo>
                  <a:pt x="0" y="92456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6" name="Module 86"/>
          <p:cNvSpPr/>
          <p:nvPr/>
        </p:nvSpPr>
        <p:spPr>
          <a:xfrm>
            <a:off x="5770880" y="251460"/>
            <a:ext cx="462280" cy="187960"/>
          </a:xfrm>
          <a:prstGeom prst="roundRect">
            <a:avLst>
              <a:gd name="adj" fmla="val 17567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Residual</a:t>
            </a:r>
            <a:endParaRPr lang="en-US" sz="64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Module 87"/>
          <p:cNvSpPr/>
          <p:nvPr/>
        </p:nvSpPr>
        <p:spPr>
          <a:xfrm>
            <a:off x="5231130" y="812165"/>
            <a:ext cx="786765" cy="158750"/>
          </a:xfrm>
          <a:prstGeom prst="roundRect">
            <a:avLst>
              <a:gd name="adj" fmla="val 17687"/>
            </a:avLst>
          </a:prstGeom>
          <a:solidFill>
            <a:srgbClr val="FFD966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Re-rank candidates</a:t>
            </a:r>
            <a:endParaRPr lang="en-US" sz="7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8" name="Panel 88"/>
          <p:cNvPicPr/>
          <p:nvPr/>
        </p:nvPicPr>
        <p:blipFill>
          <a:blip r:embed="rId4"/>
          <a:stretch>
            <a:fillRect/>
          </a:stretch>
        </p:blipFill>
        <p:spPr>
          <a:xfrm>
            <a:off x="5320703" y="1288415"/>
            <a:ext cx="609600" cy="4318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89" name="Caption 89"/>
          <p:cNvSpPr txBox="1"/>
          <p:nvPr/>
        </p:nvSpPr>
        <p:spPr>
          <a:xfrm>
            <a:off x="5320703" y="1758315"/>
            <a:ext cx="60960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Recovered target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0" name="Badge 90"/>
          <p:cNvSpPr txBox="1"/>
          <p:nvPr/>
        </p:nvSpPr>
        <p:spPr>
          <a:xfrm>
            <a:off x="5625503" y="1193165"/>
            <a:ext cx="304800" cy="1143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6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81 → 4</a:t>
            </a:r>
            <a:endParaRPr lang="en-US" sz="6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6" name="Flow 96"/>
          <p:cNvSpPr/>
          <p:nvPr/>
        </p:nvSpPr>
        <p:spPr>
          <a:xfrm>
            <a:off x="1682501" y="1052246"/>
            <a:ext cx="1270" cy="340995"/>
          </a:xfrm>
          <a:custGeom>
            <a:avLst/>
            <a:gdLst/>
            <a:ahLst/>
            <a:cxnLst/>
            <a:rect l="0" t="0" r="r" b="b"/>
            <a:pathLst>
              <a:path w="127" h="340995" fill="none">
                <a:moveTo>
                  <a:pt x="8" y="0"/>
                </a:moveTo>
                <a:lnTo>
                  <a:pt x="0" y="340995"/>
                </a:lnTo>
              </a:path>
            </a:pathLst>
          </a:custGeom>
          <a:noFill/>
          <a:ln w="10160" cap="flat">
            <a:solidFill>
              <a:srgbClr val="C55A11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98" name="Flow 98"/>
          <p:cNvSpPr/>
          <p:nvPr/>
        </p:nvSpPr>
        <p:spPr>
          <a:xfrm>
            <a:off x="3338925" y="400710"/>
            <a:ext cx="263125" cy="930885"/>
          </a:xfrm>
          <a:custGeom>
            <a:avLst/>
            <a:gdLst/>
            <a:ahLst/>
            <a:cxnLst/>
            <a:rect l="0" t="0" r="r" b="b"/>
            <a:pathLst>
              <a:path w="263125" h="930885" fill="none">
                <a:moveTo>
                  <a:pt x="0" y="930885"/>
                </a:moveTo>
                <a:lnTo>
                  <a:pt x="63500" y="930885"/>
                </a:lnTo>
                <a:lnTo>
                  <a:pt x="63500" y="0"/>
                </a:lnTo>
                <a:lnTo>
                  <a:pt x="263125" y="0"/>
                </a:lnTo>
              </a:path>
            </a:pathLst>
          </a:custGeom>
          <a:noFill/>
          <a:ln w="4572" cap="flat">
            <a:solidFill>
              <a:srgbClr val="2E75B6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99" name="Flow 99"/>
          <p:cNvSpPr/>
          <p:nvPr/>
        </p:nvSpPr>
        <p:spPr>
          <a:xfrm>
            <a:off x="4141189" y="549961"/>
            <a:ext cx="285446" cy="317500"/>
          </a:xfrm>
          <a:custGeom>
            <a:avLst/>
            <a:gdLst/>
            <a:ahLst/>
            <a:cxnLst/>
            <a:rect l="0" t="0" r="r" b="b"/>
            <a:pathLst>
              <a:path w="285446" h="317500" fill="none">
                <a:moveTo>
                  <a:pt x="285446" y="0"/>
                </a:moveTo>
                <a:lnTo>
                  <a:pt x="285446" y="88900"/>
                </a:lnTo>
                <a:lnTo>
                  <a:pt x="0" y="88900"/>
                </a:lnTo>
                <a:lnTo>
                  <a:pt x="0" y="3175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00" name="Flow 100"/>
          <p:cNvSpPr/>
          <p:nvPr/>
        </p:nvSpPr>
        <p:spPr>
          <a:xfrm>
            <a:off x="3855745" y="549961"/>
            <a:ext cx="285444" cy="317500"/>
          </a:xfrm>
          <a:custGeom>
            <a:avLst/>
            <a:gdLst/>
            <a:ahLst/>
            <a:cxnLst/>
            <a:rect l="0" t="0" r="r" b="b"/>
            <a:pathLst>
              <a:path w="285444" h="317500" fill="none">
                <a:moveTo>
                  <a:pt x="0" y="0"/>
                </a:moveTo>
                <a:lnTo>
                  <a:pt x="0" y="88900"/>
                </a:lnTo>
                <a:lnTo>
                  <a:pt x="285444" y="88900"/>
                </a:lnTo>
                <a:lnTo>
                  <a:pt x="285444" y="3175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07" name="Flow 107"/>
          <p:cNvSpPr/>
          <p:nvPr/>
        </p:nvSpPr>
        <p:spPr>
          <a:xfrm>
            <a:off x="5625501" y="970915"/>
            <a:ext cx="1270" cy="317500"/>
          </a:xfrm>
          <a:custGeom>
            <a:avLst/>
            <a:gdLst/>
            <a:ahLst/>
            <a:cxnLst/>
            <a:rect l="0" t="0" r="r" b="b"/>
            <a:pathLst>
              <a:path w="127" h="317500" fill="none">
                <a:moveTo>
                  <a:pt x="0" y="0"/>
                </a:moveTo>
                <a:lnTo>
                  <a:pt x="3" y="317500"/>
                </a:lnTo>
              </a:path>
            </a:pathLst>
          </a:custGeom>
          <a:noFill/>
          <a:ln w="10160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cxnSp>
        <p:nvCxnSpPr>
          <p:cNvPr id="108" name="Straight Arrow Connector 107"/>
          <p:cNvCxnSpPr>
            <a:stCxn id="22" idx="2"/>
            <a:endCxn id="24" idx="0"/>
          </p:cNvCxnSpPr>
          <p:nvPr/>
        </p:nvCxnSpPr>
        <p:spPr>
          <a:xfrm flipH="1">
            <a:off x="1301115" y="504825"/>
            <a:ext cx="5080" cy="375285"/>
          </a:xfrm>
          <a:prstGeom prst="straightConnector1">
            <a:avLst/>
          </a:prstGeom>
          <a:ln w="8890" cap="flat" cmpd="sng">
            <a:solidFill>
              <a:schemeClr val="tx1"/>
            </a:solidFill>
            <a:prstDash val="solid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flipH="1">
            <a:off x="2019935" y="504825"/>
            <a:ext cx="5080" cy="375285"/>
          </a:xfrm>
          <a:prstGeom prst="straightConnector1">
            <a:avLst/>
          </a:prstGeom>
          <a:ln w="8890" cap="flat" cmpd="sng">
            <a:solidFill>
              <a:schemeClr val="tx1"/>
            </a:solidFill>
            <a:prstDash val="solid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24" idx="3"/>
            <a:endCxn id="25" idx="2"/>
          </p:cNvCxnSpPr>
          <p:nvPr/>
        </p:nvCxnSpPr>
        <p:spPr>
          <a:xfrm flipV="1">
            <a:off x="1463040" y="969645"/>
            <a:ext cx="137160" cy="381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28" idx="1"/>
            <a:endCxn id="25" idx="6"/>
          </p:cNvCxnSpPr>
          <p:nvPr/>
        </p:nvCxnSpPr>
        <p:spPr>
          <a:xfrm flipH="1" flipV="1">
            <a:off x="1765300" y="969645"/>
            <a:ext cx="91440" cy="381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82" idx="3"/>
            <a:endCxn id="83" idx="2"/>
          </p:cNvCxnSpPr>
          <p:nvPr/>
        </p:nvCxnSpPr>
        <p:spPr>
          <a:xfrm>
            <a:off x="5478780" y="345440"/>
            <a:ext cx="63500" cy="0"/>
          </a:xfrm>
          <a:prstGeom prst="straightConnector1">
            <a:avLst/>
          </a:prstGeom>
          <a:ln w="0">
            <a:solidFill>
              <a:schemeClr val="tx1"/>
            </a:solidFill>
            <a:tailEnd type="none" w="sm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86" idx="1"/>
            <a:endCxn id="83" idx="6"/>
          </p:cNvCxnSpPr>
          <p:nvPr/>
        </p:nvCxnSpPr>
        <p:spPr>
          <a:xfrm flipH="1">
            <a:off x="5707380" y="345440"/>
            <a:ext cx="63500" cy="0"/>
          </a:xfrm>
          <a:prstGeom prst="straightConnector1">
            <a:avLst/>
          </a:prstGeom>
          <a:ln w="6350" cmpd="dbl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83" idx="4"/>
            <a:endCxn id="87" idx="0"/>
          </p:cNvCxnSpPr>
          <p:nvPr/>
        </p:nvCxnSpPr>
        <p:spPr>
          <a:xfrm>
            <a:off x="5624830" y="427990"/>
            <a:ext cx="0" cy="384175"/>
          </a:xfrm>
          <a:prstGeom prst="straightConnector1">
            <a:avLst/>
          </a:prstGeom>
          <a:ln w="9525" cmpd="sng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WPS Docs</Application>
  <PresentationFormat/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宋体-简</vt:lpstr>
      <vt:lpstr>Microsoft YaHei</vt:lpstr>
      <vt:lpstr>汉仪旗黑</vt:lpstr>
      <vt:lpstr>Arial Unicode MS</vt:lpstr>
      <vt:lpstr>Calibri</vt:lpstr>
      <vt:lpstr>Helvetica Neue</vt:lpstr>
      <vt:lpstr>Times New Roman</vt:lpstr>
      <vt:lpstr>CVPR-Figure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Zhao Liu</cp:lastModifiedBy>
  <cp:revision>1</cp:revision>
  <dcterms:created xsi:type="dcterms:W3CDTF">2026-09-14T01:08:20Z</dcterms:created>
  <dcterms:modified xsi:type="dcterms:W3CDTF">2026-09-14T01:08:20Z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BFD5C0E7DCD96F3D0449A76A47D56D8C_42</vt:lpwstr>
  </property>
</Properties>
</file>