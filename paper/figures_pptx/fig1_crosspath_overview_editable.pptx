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309360" cy="3230880"/>
  <p:notesSz cx="3230880" cy="63093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100" y="213360"/>
            <a:ext cx="1583411" cy="1734820"/>
          </a:xfrm>
          <a:prstGeom prst="roundRect">
            <a:avLst>
              <a:gd name="adj" fmla="val 2085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100" y="63500"/>
            <a:ext cx="1583411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Composed retrieval input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anel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00" y="438150"/>
            <a:ext cx="556965" cy="6477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114300" y="1125220"/>
            <a:ext cx="556965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Reference image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Module 6"/>
          <p:cNvSpPr/>
          <p:nvPr/>
        </p:nvSpPr>
        <p:spPr>
          <a:xfrm>
            <a:off x="719518" y="635381"/>
            <a:ext cx="810546" cy="301498"/>
          </a:xfrm>
          <a:prstGeom prst="roundRect">
            <a:avLst>
              <a:gd name="adj" fmla="val 10951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Remove graphics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Use hidden placket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SlabTop 7"/>
          <p:cNvSpPr/>
          <p:nvPr/>
        </p:nvSpPr>
        <p:spPr>
          <a:xfrm>
            <a:off x="483095" y="13881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" name="SlabSide 8"/>
          <p:cNvSpPr/>
          <p:nvPr/>
        </p:nvSpPr>
        <p:spPr>
          <a:xfrm>
            <a:off x="559295" y="13881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9" name="SlabFace 9"/>
          <p:cNvSpPr/>
          <p:nvPr/>
        </p:nvSpPr>
        <p:spPr>
          <a:xfrm>
            <a:off x="483095" y="14338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0" name="SlabTop 10"/>
          <p:cNvSpPr/>
          <p:nvPr/>
        </p:nvSpPr>
        <p:spPr>
          <a:xfrm>
            <a:off x="597395" y="13881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1" name="SlabSide 11"/>
          <p:cNvSpPr/>
          <p:nvPr/>
        </p:nvSpPr>
        <p:spPr>
          <a:xfrm>
            <a:off x="673595" y="13881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2" name="SlabFace 12"/>
          <p:cNvSpPr/>
          <p:nvPr/>
        </p:nvSpPr>
        <p:spPr>
          <a:xfrm>
            <a:off x="597395" y="14338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3" name="SlabTop 13"/>
          <p:cNvSpPr/>
          <p:nvPr/>
        </p:nvSpPr>
        <p:spPr>
          <a:xfrm>
            <a:off x="711695" y="13881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4" name="SlabSide 14"/>
          <p:cNvSpPr/>
          <p:nvPr/>
        </p:nvSpPr>
        <p:spPr>
          <a:xfrm>
            <a:off x="787895" y="13881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5" name="SlabFace 15"/>
          <p:cNvSpPr/>
          <p:nvPr/>
        </p:nvSpPr>
        <p:spPr>
          <a:xfrm>
            <a:off x="711695" y="14338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6" name="SlabTop 16"/>
          <p:cNvSpPr/>
          <p:nvPr/>
        </p:nvSpPr>
        <p:spPr>
          <a:xfrm>
            <a:off x="825995" y="13881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7" name="SlabSide 17"/>
          <p:cNvSpPr/>
          <p:nvPr/>
        </p:nvSpPr>
        <p:spPr>
          <a:xfrm>
            <a:off x="902195" y="13881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8" name="SlabFace 18"/>
          <p:cNvSpPr/>
          <p:nvPr/>
        </p:nvSpPr>
        <p:spPr>
          <a:xfrm>
            <a:off x="825995" y="14338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9" name="SlabTop 19"/>
          <p:cNvSpPr/>
          <p:nvPr/>
        </p:nvSpPr>
        <p:spPr>
          <a:xfrm>
            <a:off x="940295" y="13881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0" name="SlabSide 20"/>
          <p:cNvSpPr/>
          <p:nvPr/>
        </p:nvSpPr>
        <p:spPr>
          <a:xfrm>
            <a:off x="1016495" y="13881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1" name="SlabFace 21"/>
          <p:cNvSpPr/>
          <p:nvPr/>
        </p:nvSpPr>
        <p:spPr>
          <a:xfrm>
            <a:off x="940295" y="14338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2" name="SlabTop 22"/>
          <p:cNvSpPr/>
          <p:nvPr/>
        </p:nvSpPr>
        <p:spPr>
          <a:xfrm>
            <a:off x="1054595" y="13881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3" name="SlabSide 23"/>
          <p:cNvSpPr/>
          <p:nvPr/>
        </p:nvSpPr>
        <p:spPr>
          <a:xfrm>
            <a:off x="1130795" y="13881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4" name="SlabFace 24"/>
          <p:cNvSpPr/>
          <p:nvPr/>
        </p:nvSpPr>
        <p:spPr>
          <a:xfrm>
            <a:off x="1054595" y="14338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5" name="Caption 25"/>
          <p:cNvSpPr txBox="1"/>
          <p:nvPr/>
        </p:nvSpPr>
        <p:spPr>
          <a:xfrm>
            <a:off x="483095" y="1789430"/>
            <a:ext cx="69342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Gallery images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Stage 26"/>
          <p:cNvSpPr/>
          <p:nvPr/>
        </p:nvSpPr>
        <p:spPr>
          <a:xfrm>
            <a:off x="1691450" y="213360"/>
            <a:ext cx="1226820" cy="2766060"/>
          </a:xfrm>
          <a:prstGeom prst="roundRect">
            <a:avLst>
              <a:gd name="adj" fmla="val 2691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7" name="StageTitle 27"/>
          <p:cNvSpPr txBox="1"/>
          <p:nvPr/>
        </p:nvSpPr>
        <p:spPr>
          <a:xfrm>
            <a:off x="1691450" y="63500"/>
            <a:ext cx="122682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Two frozen endpoints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Stage 28"/>
          <p:cNvSpPr/>
          <p:nvPr/>
        </p:nvSpPr>
        <p:spPr>
          <a:xfrm>
            <a:off x="1767650" y="289560"/>
            <a:ext cx="1074420" cy="1154430"/>
          </a:xfrm>
          <a:prstGeom prst="roundRect">
            <a:avLst>
              <a:gd name="adj" fmla="val 3073"/>
            </a:avLst>
          </a:prstGeom>
          <a:solidFill>
            <a:srgbClr val="EAF1FA"/>
          </a:solidFill>
          <a:ln w="4572" cap="flat">
            <a:solidFill>
              <a:srgbClr val="2E75B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9" name="Label 29"/>
          <p:cNvSpPr txBox="1"/>
          <p:nvPr/>
        </p:nvSpPr>
        <p:spPr>
          <a:xfrm>
            <a:off x="2093239" y="353060"/>
            <a:ext cx="423238" cy="8509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7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Endpoint A</a:t>
            </a:r>
            <a:endParaRPr lang="en-US" sz="67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1831150" y="540385"/>
            <a:ext cx="584200" cy="317500"/>
          </a:xfrm>
          <a:custGeom>
            <a:avLst/>
            <a:gdLst/>
            <a:ahLst/>
            <a:cxnLst/>
            <a:rect l="0" t="0" r="r" b="b"/>
            <a:pathLst>
              <a:path w="584200" h="317500">
                <a:moveTo>
                  <a:pt x="0" y="0"/>
                </a:moveTo>
                <a:lnTo>
                  <a:pt x="584200" y="69850"/>
                </a:lnTo>
                <a:lnTo>
                  <a:pt x="584200" y="247650"/>
                </a:lnTo>
                <a:lnTo>
                  <a:pt x="0" y="317500"/>
                </a:lnTo>
                <a:close/>
              </a:path>
            </a:pathLst>
          </a:cu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Query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composer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SlabTop 31"/>
          <p:cNvSpPr/>
          <p:nvPr/>
        </p:nvSpPr>
        <p:spPr>
          <a:xfrm>
            <a:off x="2466150" y="48895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2" name="SlabSide 32"/>
          <p:cNvSpPr/>
          <p:nvPr/>
        </p:nvSpPr>
        <p:spPr>
          <a:xfrm>
            <a:off x="2529650" y="48895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3" name="SlabFace 33"/>
          <p:cNvSpPr/>
          <p:nvPr/>
        </p:nvSpPr>
        <p:spPr>
          <a:xfrm>
            <a:off x="2466150" y="53467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4" name="SlabTop 34"/>
          <p:cNvSpPr/>
          <p:nvPr/>
        </p:nvSpPr>
        <p:spPr>
          <a:xfrm>
            <a:off x="2567750" y="48895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5" name="SlabSide 35"/>
          <p:cNvSpPr/>
          <p:nvPr/>
        </p:nvSpPr>
        <p:spPr>
          <a:xfrm>
            <a:off x="2631250" y="48895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6" name="SlabFace 36"/>
          <p:cNvSpPr/>
          <p:nvPr/>
        </p:nvSpPr>
        <p:spPr>
          <a:xfrm>
            <a:off x="2567750" y="53467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7" name="SlabTop 37"/>
          <p:cNvSpPr/>
          <p:nvPr/>
        </p:nvSpPr>
        <p:spPr>
          <a:xfrm>
            <a:off x="2669350" y="48895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8" name="SlabSide 38"/>
          <p:cNvSpPr/>
          <p:nvPr/>
        </p:nvSpPr>
        <p:spPr>
          <a:xfrm>
            <a:off x="2732850" y="48895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9" name="SlabFace 39"/>
          <p:cNvSpPr/>
          <p:nvPr/>
        </p:nvSpPr>
        <p:spPr>
          <a:xfrm>
            <a:off x="2669350" y="53467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0" name="Caption 40"/>
          <p:cNvSpPr txBox="1"/>
          <p:nvPr/>
        </p:nvSpPr>
        <p:spPr>
          <a:xfrm>
            <a:off x="2588387" y="824548"/>
            <a:ext cx="67945" cy="9969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</a:t>
            </a:r>
            <a:r>
              <a:rPr lang="en-US" sz="65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lang="en-US" sz="65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1831150" y="1011555"/>
            <a:ext cx="584200" cy="317500"/>
          </a:xfrm>
          <a:custGeom>
            <a:avLst/>
            <a:gdLst/>
            <a:ahLst/>
            <a:cxnLst/>
            <a:rect l="0" t="0" r="r" b="b"/>
            <a:pathLst>
              <a:path w="584200" h="317500">
                <a:moveTo>
                  <a:pt x="0" y="0"/>
                </a:moveTo>
                <a:lnTo>
                  <a:pt x="584200" y="69850"/>
                </a:lnTo>
                <a:lnTo>
                  <a:pt x="584200" y="247650"/>
                </a:lnTo>
                <a:lnTo>
                  <a:pt x="0" y="317500"/>
                </a:lnTo>
                <a:close/>
              </a:path>
            </a:pathLst>
          </a:cu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Gallery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encoder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SlabTop 42"/>
          <p:cNvSpPr/>
          <p:nvPr/>
        </p:nvSpPr>
        <p:spPr>
          <a:xfrm>
            <a:off x="2466150" y="96012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3" name="SlabSide 43"/>
          <p:cNvSpPr/>
          <p:nvPr/>
        </p:nvSpPr>
        <p:spPr>
          <a:xfrm>
            <a:off x="2529650" y="96012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4" name="SlabFace 44"/>
          <p:cNvSpPr/>
          <p:nvPr/>
        </p:nvSpPr>
        <p:spPr>
          <a:xfrm>
            <a:off x="2466150" y="100584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5" name="SlabTop 45"/>
          <p:cNvSpPr/>
          <p:nvPr/>
        </p:nvSpPr>
        <p:spPr>
          <a:xfrm>
            <a:off x="2567750" y="96012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6" name="SlabSide 46"/>
          <p:cNvSpPr/>
          <p:nvPr/>
        </p:nvSpPr>
        <p:spPr>
          <a:xfrm>
            <a:off x="2631250" y="96012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7" name="SlabFace 47"/>
          <p:cNvSpPr/>
          <p:nvPr/>
        </p:nvSpPr>
        <p:spPr>
          <a:xfrm>
            <a:off x="2567750" y="100584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8" name="SlabTop 48"/>
          <p:cNvSpPr/>
          <p:nvPr/>
        </p:nvSpPr>
        <p:spPr>
          <a:xfrm>
            <a:off x="2669350" y="96012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9" name="SlabSide 49"/>
          <p:cNvSpPr/>
          <p:nvPr/>
        </p:nvSpPr>
        <p:spPr>
          <a:xfrm>
            <a:off x="2732850" y="96012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0" name="SlabFace 50"/>
          <p:cNvSpPr/>
          <p:nvPr/>
        </p:nvSpPr>
        <p:spPr>
          <a:xfrm>
            <a:off x="2669350" y="100584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1" name="Caption 51"/>
          <p:cNvSpPr txBox="1"/>
          <p:nvPr/>
        </p:nvSpPr>
        <p:spPr>
          <a:xfrm>
            <a:off x="2588387" y="1295718"/>
            <a:ext cx="67945" cy="9969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sz="65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lang="en-US" sz="65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Stage 52"/>
          <p:cNvSpPr/>
          <p:nvPr/>
        </p:nvSpPr>
        <p:spPr>
          <a:xfrm>
            <a:off x="1767650" y="1748790"/>
            <a:ext cx="1074420" cy="1154430"/>
          </a:xfrm>
          <a:prstGeom prst="roundRect">
            <a:avLst>
              <a:gd name="adj" fmla="val 3073"/>
            </a:avLst>
          </a:prstGeom>
          <a:solidFill>
            <a:srgbClr val="EAF1FA"/>
          </a:solidFill>
          <a:ln w="4572" cap="flat">
            <a:solidFill>
              <a:srgbClr val="2E75B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3" name="Label 53"/>
          <p:cNvSpPr txBox="1"/>
          <p:nvPr/>
        </p:nvSpPr>
        <p:spPr>
          <a:xfrm>
            <a:off x="2095589" y="1812290"/>
            <a:ext cx="418558" cy="8509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7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Endpoint B</a:t>
            </a:r>
            <a:endParaRPr lang="en-US" sz="67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Shape 54"/>
          <p:cNvSpPr/>
          <p:nvPr/>
        </p:nvSpPr>
        <p:spPr>
          <a:xfrm>
            <a:off x="1831150" y="1999615"/>
            <a:ext cx="584200" cy="317500"/>
          </a:xfrm>
          <a:custGeom>
            <a:avLst/>
            <a:gdLst/>
            <a:ahLst/>
            <a:cxnLst/>
            <a:rect l="0" t="0" r="r" b="b"/>
            <a:pathLst>
              <a:path w="584200" h="317500">
                <a:moveTo>
                  <a:pt x="0" y="0"/>
                </a:moveTo>
                <a:lnTo>
                  <a:pt x="584200" y="69850"/>
                </a:lnTo>
                <a:lnTo>
                  <a:pt x="584200" y="247650"/>
                </a:lnTo>
                <a:lnTo>
                  <a:pt x="0" y="317500"/>
                </a:lnTo>
                <a:close/>
              </a:path>
            </a:pathLst>
          </a:cu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Query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composer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5" name="SlabTop 55"/>
          <p:cNvSpPr/>
          <p:nvPr/>
        </p:nvSpPr>
        <p:spPr>
          <a:xfrm>
            <a:off x="2466150" y="194818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6" name="SlabSide 56"/>
          <p:cNvSpPr/>
          <p:nvPr/>
        </p:nvSpPr>
        <p:spPr>
          <a:xfrm>
            <a:off x="2529650" y="194818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7" name="SlabFace 57"/>
          <p:cNvSpPr/>
          <p:nvPr/>
        </p:nvSpPr>
        <p:spPr>
          <a:xfrm>
            <a:off x="2466150" y="199390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8" name="SlabTop 58"/>
          <p:cNvSpPr/>
          <p:nvPr/>
        </p:nvSpPr>
        <p:spPr>
          <a:xfrm>
            <a:off x="2567750" y="194818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9" name="SlabSide 59"/>
          <p:cNvSpPr/>
          <p:nvPr/>
        </p:nvSpPr>
        <p:spPr>
          <a:xfrm>
            <a:off x="2631250" y="194818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0" name="SlabFace 60"/>
          <p:cNvSpPr/>
          <p:nvPr/>
        </p:nvSpPr>
        <p:spPr>
          <a:xfrm>
            <a:off x="2567750" y="199390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1" name="SlabTop 61"/>
          <p:cNvSpPr/>
          <p:nvPr/>
        </p:nvSpPr>
        <p:spPr>
          <a:xfrm>
            <a:off x="2669350" y="194818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2" name="SlabSide 62"/>
          <p:cNvSpPr/>
          <p:nvPr/>
        </p:nvSpPr>
        <p:spPr>
          <a:xfrm>
            <a:off x="2732850" y="194818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3" name="SlabFace 63"/>
          <p:cNvSpPr/>
          <p:nvPr/>
        </p:nvSpPr>
        <p:spPr>
          <a:xfrm>
            <a:off x="2669350" y="199390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4" name="Caption 64"/>
          <p:cNvSpPr txBox="1"/>
          <p:nvPr/>
        </p:nvSpPr>
        <p:spPr>
          <a:xfrm>
            <a:off x="2588387" y="2283778"/>
            <a:ext cx="67945" cy="9969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</a:t>
            </a:r>
            <a:r>
              <a:rPr lang="en-US" sz="65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lang="en-US" sz="65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1831150" y="2470785"/>
            <a:ext cx="584200" cy="317500"/>
          </a:xfrm>
          <a:custGeom>
            <a:avLst/>
            <a:gdLst/>
            <a:ahLst/>
            <a:cxnLst/>
            <a:rect l="0" t="0" r="r" b="b"/>
            <a:pathLst>
              <a:path w="584200" h="317500">
                <a:moveTo>
                  <a:pt x="0" y="0"/>
                </a:moveTo>
                <a:lnTo>
                  <a:pt x="584200" y="69850"/>
                </a:lnTo>
                <a:lnTo>
                  <a:pt x="584200" y="247650"/>
                </a:lnTo>
                <a:lnTo>
                  <a:pt x="0" y="317500"/>
                </a:lnTo>
                <a:close/>
              </a:path>
            </a:pathLst>
          </a:cu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Gallery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encoder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SlabTop 66"/>
          <p:cNvSpPr/>
          <p:nvPr/>
        </p:nvSpPr>
        <p:spPr>
          <a:xfrm>
            <a:off x="2466150" y="241935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7" name="SlabSide 67"/>
          <p:cNvSpPr/>
          <p:nvPr/>
        </p:nvSpPr>
        <p:spPr>
          <a:xfrm>
            <a:off x="2529650" y="241935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8" name="SlabFace 68"/>
          <p:cNvSpPr/>
          <p:nvPr/>
        </p:nvSpPr>
        <p:spPr>
          <a:xfrm>
            <a:off x="2466150" y="246507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9" name="SlabTop 69"/>
          <p:cNvSpPr/>
          <p:nvPr/>
        </p:nvSpPr>
        <p:spPr>
          <a:xfrm>
            <a:off x="2567750" y="241935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0" name="SlabSide 70"/>
          <p:cNvSpPr/>
          <p:nvPr/>
        </p:nvSpPr>
        <p:spPr>
          <a:xfrm>
            <a:off x="2631250" y="241935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1" name="SlabFace 71"/>
          <p:cNvSpPr/>
          <p:nvPr/>
        </p:nvSpPr>
        <p:spPr>
          <a:xfrm>
            <a:off x="2567750" y="246507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2" name="SlabTop 72"/>
          <p:cNvSpPr/>
          <p:nvPr/>
        </p:nvSpPr>
        <p:spPr>
          <a:xfrm>
            <a:off x="2669350" y="241935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3" name="SlabSide 73"/>
          <p:cNvSpPr/>
          <p:nvPr/>
        </p:nvSpPr>
        <p:spPr>
          <a:xfrm>
            <a:off x="2732850" y="2419350"/>
            <a:ext cx="45720" cy="299720"/>
          </a:xfrm>
          <a:custGeom>
            <a:avLst/>
            <a:gdLst/>
            <a:ahLst/>
            <a:cxnLst/>
            <a:rect l="0" t="0" r="r" b="b"/>
            <a:pathLst>
              <a:path w="45720" h="299720">
                <a:moveTo>
                  <a:pt x="0" y="45720"/>
                </a:moveTo>
                <a:lnTo>
                  <a:pt x="45720" y="0"/>
                </a:lnTo>
                <a:lnTo>
                  <a:pt x="45720" y="254000"/>
                </a:lnTo>
                <a:lnTo>
                  <a:pt x="0" y="2997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4" name="SlabFace 74"/>
          <p:cNvSpPr/>
          <p:nvPr/>
        </p:nvSpPr>
        <p:spPr>
          <a:xfrm>
            <a:off x="2669350" y="2465070"/>
            <a:ext cx="63500" cy="254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5" name="Caption 75"/>
          <p:cNvSpPr txBox="1"/>
          <p:nvPr/>
        </p:nvSpPr>
        <p:spPr>
          <a:xfrm>
            <a:off x="2588387" y="2754948"/>
            <a:ext cx="67945" cy="9969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sz="65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lang="en-US" sz="65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6" name="Stage 76"/>
          <p:cNvSpPr/>
          <p:nvPr/>
        </p:nvSpPr>
        <p:spPr>
          <a:xfrm>
            <a:off x="2988221" y="232410"/>
            <a:ext cx="1816100" cy="1761490"/>
          </a:xfrm>
          <a:prstGeom prst="roundRect">
            <a:avLst>
              <a:gd name="adj" fmla="val 1874"/>
            </a:avLst>
          </a:prstGeom>
          <a:solidFill>
            <a:srgbClr val="FDF2E9"/>
          </a:solidFill>
          <a:ln w="4572" cap="flat">
            <a:solidFill>
              <a:srgbClr val="ED7D31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7" name="StageTitle 77"/>
          <p:cNvSpPr txBox="1"/>
          <p:nvPr/>
        </p:nvSpPr>
        <p:spPr>
          <a:xfrm>
            <a:off x="2988221" y="63500"/>
            <a:ext cx="181610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Four query-gallery pairs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Label 78"/>
          <p:cNvSpPr txBox="1"/>
          <p:nvPr/>
        </p:nvSpPr>
        <p:spPr>
          <a:xfrm>
            <a:off x="3644455" y="302260"/>
            <a:ext cx="503611" cy="8128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Original paths</a:t>
            </a:r>
            <a:endParaRPr lang="en-US" sz="64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9" name="Module 79"/>
          <p:cNvSpPr/>
          <p:nvPr/>
        </p:nvSpPr>
        <p:spPr>
          <a:xfrm>
            <a:off x="3284220" y="518795"/>
            <a:ext cx="438785" cy="124460"/>
          </a:xfrm>
          <a:prstGeom prst="roundRect">
            <a:avLst>
              <a:gd name="adj" fmla="val 17808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00 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= q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· g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lang="en-US" sz="62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Module 80"/>
          <p:cNvSpPr/>
          <p:nvPr/>
        </p:nvSpPr>
        <p:spPr>
          <a:xfrm>
            <a:off x="4090670" y="519430"/>
            <a:ext cx="480060" cy="123825"/>
          </a:xfrm>
          <a:prstGeom prst="roundRect">
            <a:avLst>
              <a:gd name="adj" fmla="val 17808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11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= q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· g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lang="en-US" sz="62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1" name="Label 81"/>
          <p:cNvSpPr txBox="1"/>
          <p:nvPr/>
        </p:nvSpPr>
        <p:spPr>
          <a:xfrm>
            <a:off x="3472180" y="727710"/>
            <a:ext cx="810895" cy="23241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40" b="1" dirty="0">
                <a:solidFill>
                  <a:srgbClr val="C55A11"/>
                </a:solidFill>
                <a:latin typeface="Times New Roman" panose="02020603050405020304"/>
                <a:cs typeface="Times New Roman" panose="02020603050405020304"/>
              </a:rPr>
              <a:t>Crossed paths</a:t>
            </a:r>
            <a:endParaRPr lang="en-US" sz="940" b="1" dirty="0">
              <a:solidFill>
                <a:srgbClr val="C55A1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Module 82"/>
          <p:cNvSpPr/>
          <p:nvPr/>
        </p:nvSpPr>
        <p:spPr>
          <a:xfrm>
            <a:off x="3285490" y="1006475"/>
            <a:ext cx="437515" cy="138430"/>
          </a:xfrm>
          <a:prstGeom prst="roundRect">
            <a:avLst>
              <a:gd name="adj" fmla="val 17808"/>
            </a:avLst>
          </a:prstGeom>
          <a:solidFill>
            <a:srgbClr val="FFE699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01 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= q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 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· g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lang="en-US" sz="62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Module 83"/>
          <p:cNvSpPr/>
          <p:nvPr/>
        </p:nvSpPr>
        <p:spPr>
          <a:xfrm>
            <a:off x="4090670" y="1005840"/>
            <a:ext cx="479425" cy="139065"/>
          </a:xfrm>
          <a:prstGeom prst="roundRect">
            <a:avLst>
              <a:gd name="adj" fmla="val 17808"/>
            </a:avLst>
          </a:prstGeom>
          <a:solidFill>
            <a:srgbClr val="FFE699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= q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· g</a:t>
            </a:r>
            <a:r>
              <a:rPr lang="en-US" sz="62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lang="en-US" sz="62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Module 84"/>
          <p:cNvSpPr/>
          <p:nvPr/>
        </p:nvSpPr>
        <p:spPr>
          <a:xfrm>
            <a:off x="3284855" y="1687830"/>
            <a:ext cx="1285240" cy="180975"/>
          </a:xfrm>
          <a:prstGeom prst="roundRect">
            <a:avLst>
              <a:gd name="adj" fmla="val 17687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3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 × 2 compatibility matrix</a:t>
            </a:r>
            <a:endParaRPr lang="en-US" sz="830" b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Stage 85"/>
          <p:cNvSpPr/>
          <p:nvPr/>
        </p:nvSpPr>
        <p:spPr>
          <a:xfrm>
            <a:off x="4874260" y="213360"/>
            <a:ext cx="1397000" cy="2979877"/>
          </a:xfrm>
          <a:prstGeom prst="roundRect">
            <a:avLst>
              <a:gd name="adj" fmla="val 2363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6" name="StageTitle 86"/>
          <p:cNvSpPr txBox="1"/>
          <p:nvPr/>
        </p:nvSpPr>
        <p:spPr>
          <a:xfrm>
            <a:off x="4874260" y="63500"/>
            <a:ext cx="139700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One final ranking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Stage 87"/>
          <p:cNvSpPr/>
          <p:nvPr/>
        </p:nvSpPr>
        <p:spPr>
          <a:xfrm>
            <a:off x="4950460" y="289560"/>
            <a:ext cx="1244600" cy="1275537"/>
          </a:xfrm>
          <a:prstGeom prst="roundRect">
            <a:avLst>
              <a:gd name="adj" fmla="val 2653"/>
            </a:avLst>
          </a:prstGeom>
          <a:solidFill>
            <a:srgbClr val="FFF9E6"/>
          </a:solidFill>
          <a:ln w="4572" cap="flat">
            <a:solidFill>
              <a:srgbClr val="BF9000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8" name="Module 88"/>
          <p:cNvSpPr/>
          <p:nvPr/>
        </p:nvSpPr>
        <p:spPr>
          <a:xfrm>
            <a:off x="5292090" y="353695"/>
            <a:ext cx="560705" cy="291465"/>
          </a:xfrm>
          <a:prstGeom prst="roundRect">
            <a:avLst>
              <a:gd name="adj" fmla="val 11405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Cross mean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FashionIQ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9" name="Shape 89"/>
          <p:cNvSpPr/>
          <p:nvPr/>
        </p:nvSpPr>
        <p:spPr>
          <a:xfrm>
            <a:off x="5086985" y="727710"/>
            <a:ext cx="971550" cy="317500"/>
          </a:xfrm>
          <a:custGeom>
            <a:avLst/>
            <a:gdLst/>
            <a:ahLst/>
            <a:cxnLst/>
            <a:rect l="0" t="0" r="r" b="b"/>
            <a:pathLst>
              <a:path w="1117600" h="355600">
                <a:moveTo>
                  <a:pt x="177800" y="0"/>
                </a:moveTo>
                <a:lnTo>
                  <a:pt x="939800" y="0"/>
                </a:lnTo>
                <a:lnTo>
                  <a:pt x="1117600" y="177800"/>
                </a:lnTo>
                <a:lnTo>
                  <a:pt x="939800" y="355600"/>
                </a:lnTo>
                <a:lnTo>
                  <a:pt x="177800" y="355600"/>
                </a:lnTo>
                <a:lnTo>
                  <a:pt x="0" y="177800"/>
                </a:lnTo>
                <a:close/>
              </a:path>
            </a:pathLst>
          </a:cu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Joint rank-path router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FashionGen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0" name="Module 90"/>
          <p:cNvSpPr/>
          <p:nvPr/>
        </p:nvSpPr>
        <p:spPr>
          <a:xfrm>
            <a:off x="5166995" y="1108075"/>
            <a:ext cx="811530" cy="375920"/>
          </a:xfrm>
          <a:prstGeom prst="roundRect">
            <a:avLst>
              <a:gd name="adj" fmla="val 8771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Conservative fusion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+ target refinement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CIRR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1" name="Module 91"/>
          <p:cNvSpPr/>
          <p:nvPr/>
        </p:nvSpPr>
        <p:spPr>
          <a:xfrm>
            <a:off x="5203825" y="1869897"/>
            <a:ext cx="737870" cy="186690"/>
          </a:xfrm>
          <a:prstGeom prst="roundRect">
            <a:avLst>
              <a:gd name="adj" fmla="val 17687"/>
            </a:avLst>
          </a:prstGeom>
          <a:solidFill>
            <a:srgbClr val="DEEBF7"/>
          </a:solidFill>
          <a:ln w="4572" cap="flat">
            <a:solidFill>
              <a:srgbClr val="2E75B6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Single ranked list</a:t>
            </a:r>
            <a:endParaRPr lang="en-US" sz="6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2" name="Panel 92"/>
          <p:cNvPicPr/>
          <p:nvPr/>
        </p:nvPicPr>
        <p:blipFill>
          <a:blip r:embed="rId2"/>
          <a:stretch>
            <a:fillRect/>
          </a:stretch>
        </p:blipFill>
        <p:spPr>
          <a:xfrm>
            <a:off x="5291963" y="2348687"/>
            <a:ext cx="561588" cy="6477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93" name="Caption 93"/>
          <p:cNvSpPr txBox="1"/>
          <p:nvPr/>
        </p:nvSpPr>
        <p:spPr>
          <a:xfrm>
            <a:off x="5291963" y="3034487"/>
            <a:ext cx="561588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Recovered target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Badge 94"/>
          <p:cNvSpPr txBox="1"/>
          <p:nvPr/>
        </p:nvSpPr>
        <p:spPr>
          <a:xfrm>
            <a:off x="5548751" y="2253437"/>
            <a:ext cx="304800" cy="1143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6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9 → 1</a:t>
            </a:r>
            <a:endParaRPr lang="en-US" sz="6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3" name="Flow 103"/>
          <p:cNvSpPr/>
          <p:nvPr/>
        </p:nvSpPr>
        <p:spPr>
          <a:xfrm>
            <a:off x="5572760" y="1565097"/>
            <a:ext cx="1270" cy="304800"/>
          </a:xfrm>
          <a:custGeom>
            <a:avLst/>
            <a:gdLst/>
            <a:ahLst/>
            <a:cxnLst/>
            <a:rect l="0" t="0" r="r" b="b"/>
            <a:pathLst>
              <a:path w="127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04" name="Flow 104"/>
          <p:cNvSpPr/>
          <p:nvPr/>
        </p:nvSpPr>
        <p:spPr>
          <a:xfrm>
            <a:off x="5572757" y="2056587"/>
            <a:ext cx="1270" cy="292100"/>
          </a:xfrm>
          <a:custGeom>
            <a:avLst/>
            <a:gdLst/>
            <a:ahLst/>
            <a:cxnLst/>
            <a:rect l="0" t="0" r="r" b="b"/>
            <a:pathLst>
              <a:path w="127" h="292100" fill="none">
                <a:moveTo>
                  <a:pt x="3" y="0"/>
                </a:moveTo>
                <a:lnTo>
                  <a:pt x="0" y="292100"/>
                </a:lnTo>
              </a:path>
            </a:pathLst>
          </a:custGeom>
          <a:noFill/>
          <a:ln w="10160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cxnSp>
        <p:nvCxnSpPr>
          <p:cNvPr id="105" name="Straight Arrow Connector 104"/>
          <p:cNvCxnSpPr>
            <a:stCxn id="82" idx="2"/>
            <a:endCxn id="84" idx="0"/>
          </p:cNvCxnSpPr>
          <p:nvPr/>
        </p:nvCxnSpPr>
        <p:spPr>
          <a:xfrm>
            <a:off x="3504565" y="1144905"/>
            <a:ext cx="422910" cy="542925"/>
          </a:xfrm>
          <a:prstGeom prst="straightConnector1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endCxn id="84" idx="0"/>
          </p:cNvCxnSpPr>
          <p:nvPr/>
        </p:nvCxnSpPr>
        <p:spPr>
          <a:xfrm flipH="1">
            <a:off x="3927475" y="1171575"/>
            <a:ext cx="386715" cy="516255"/>
          </a:xfrm>
          <a:prstGeom prst="straightConnector1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WPS Docs</Application>
  <PresentationFormat/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宋体-简</vt:lpstr>
      <vt:lpstr>Microsoft YaHei</vt:lpstr>
      <vt:lpstr>汉仪旗黑</vt:lpstr>
      <vt:lpstr>Arial Unicode MS</vt:lpstr>
      <vt:lpstr>Calibri</vt:lpstr>
      <vt:lpstr>Helvetica Neue</vt:lpstr>
      <vt:lpstr>Times New Roman</vt:lpstr>
      <vt:lpstr>CVPR-Figure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Zhao Liu</cp:lastModifiedBy>
  <cp:revision>2</cp:revision>
  <dcterms:created xsi:type="dcterms:W3CDTF">2026-09-14T00:49:44Z</dcterms:created>
  <dcterms:modified xsi:type="dcterms:W3CDTF">2026-09-14T00:49:44Z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F50F28B5F8F633A8F943A76A08B1BB7C_42</vt:lpwstr>
  </property>
</Properties>
</file>